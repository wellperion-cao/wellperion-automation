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78" r:id="rId3"/>
    <p:sldId id="274" r:id="rId4"/>
    <p:sldId id="279" r:id="rId5"/>
    <p:sldId id="275" r:id="rId6"/>
    <p:sldId id="280" r:id="rId7"/>
    <p:sldId id="276" r:id="rId8"/>
    <p:sldId id="281" r:id="rId9"/>
    <p:sldId id="277" r:id="rId10"/>
    <p:sldId id="282" r:id="rId11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  <a:srgbClr val="888783"/>
    <a:srgbClr val="F5F5F5"/>
    <a:srgbClr val="A19B9B"/>
    <a:srgbClr val="5B616E"/>
    <a:srgbClr val="828593"/>
    <a:srgbClr val="757A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7" autoAdjust="0"/>
    <p:restoredTop sz="94660"/>
  </p:normalViewPr>
  <p:slideViewPr>
    <p:cSldViewPr snapToGrid="0">
      <p:cViewPr varScale="1">
        <p:scale>
          <a:sx n="59" d="100"/>
          <a:sy n="59" d="100"/>
        </p:scale>
        <p:origin x="293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731C-47A9-4B0A-8DD6-2E24D0B2297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9D4C-1FC3-4882-8781-AB774EBC7E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238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731C-47A9-4B0A-8DD6-2E24D0B2297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9D4C-1FC3-4882-8781-AB774EBC7E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803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731C-47A9-4B0A-8DD6-2E24D0B2297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9D4C-1FC3-4882-8781-AB774EBC7E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49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731C-47A9-4B0A-8DD6-2E24D0B2297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9D4C-1FC3-4882-8781-AB774EBC7E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5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731C-47A9-4B0A-8DD6-2E24D0B2297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9D4C-1FC3-4882-8781-AB774EBC7E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34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731C-47A9-4B0A-8DD6-2E24D0B2297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9D4C-1FC3-4882-8781-AB774EBC7E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520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731C-47A9-4B0A-8DD6-2E24D0B2297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9D4C-1FC3-4882-8781-AB774EBC7E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49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731C-47A9-4B0A-8DD6-2E24D0B2297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9D4C-1FC3-4882-8781-AB774EBC7E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28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731C-47A9-4B0A-8DD6-2E24D0B2297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9D4C-1FC3-4882-8781-AB774EBC7E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766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731C-47A9-4B0A-8DD6-2E24D0B2297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9D4C-1FC3-4882-8781-AB774EBC7E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984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5731C-47A9-4B0A-8DD6-2E24D0B2297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9D4C-1FC3-4882-8781-AB774EBC7E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551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D5731C-47A9-4B0A-8DD6-2E24D0B22972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F79D4C-1FC3-4882-8781-AB774EBC7E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981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DF650-0296-23A4-5676-24EDB793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90B64F6-300A-2A5C-958C-07A476A6E9B6}"/>
              </a:ext>
            </a:extLst>
          </p:cNvPr>
          <p:cNvSpPr/>
          <p:nvPr/>
        </p:nvSpPr>
        <p:spPr>
          <a:xfrm>
            <a:off x="130629" y="277479"/>
            <a:ext cx="6607628" cy="64633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목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경추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재활 트레이닝 솔루션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DBA3E-BA8E-3744-359C-3064279ECE93}"/>
              </a:ext>
            </a:extLst>
          </p:cNvPr>
          <p:cNvSpPr txBox="1"/>
          <p:nvPr/>
        </p:nvSpPr>
        <p:spPr>
          <a:xfrm>
            <a:off x="125186" y="1400980"/>
            <a:ext cx="66076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effectLst/>
              </a:rPr>
              <a:t>무거운 머리의 하중을 온종일 견뎌야 하는 섬세한 관절</a:t>
            </a:r>
            <a:r>
              <a:rPr lang="en-US" altLang="ko-KR" dirty="0">
                <a:effectLst/>
              </a:rPr>
              <a:t>, </a:t>
            </a:r>
            <a:r>
              <a:rPr lang="ko-KR" altLang="en-US" dirty="0">
                <a:effectLst/>
              </a:rPr>
              <a:t>목</a:t>
            </a:r>
            <a:br>
              <a:rPr lang="ko-KR" altLang="en-US" dirty="0"/>
            </a:br>
            <a:br>
              <a:rPr lang="ko-KR" altLang="en-US" dirty="0"/>
            </a:br>
            <a:r>
              <a:rPr lang="ko-KR" altLang="en-US" dirty="0" err="1">
                <a:effectLst/>
              </a:rPr>
              <a:t>거북목</a:t>
            </a:r>
            <a:r>
              <a:rPr lang="en-US" altLang="ko-KR" dirty="0">
                <a:effectLst/>
              </a:rPr>
              <a:t>, </a:t>
            </a:r>
            <a:r>
              <a:rPr lang="ko-KR" altLang="en-US" dirty="0">
                <a:effectLst/>
              </a:rPr>
              <a:t>일자목으로 인한 만성 뻐근함과 </a:t>
            </a:r>
            <a:endParaRPr lang="en-US" altLang="ko-KR" dirty="0">
              <a:effectLst/>
            </a:endParaRPr>
          </a:p>
          <a:p>
            <a:pPr algn="ctr"/>
            <a:r>
              <a:rPr lang="ko-KR" altLang="en-US" dirty="0">
                <a:effectLst/>
              </a:rPr>
              <a:t>두통은 단순 마사지로 해결되지 않습니다</a:t>
            </a:r>
            <a:r>
              <a:rPr lang="en-US" altLang="ko-KR" dirty="0">
                <a:effectLst/>
              </a:rPr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4A577-E1E9-BEDE-F080-500F05C5E31C}"/>
              </a:ext>
            </a:extLst>
          </p:cNvPr>
          <p:cNvSpPr txBox="1"/>
          <p:nvPr/>
        </p:nvSpPr>
        <p:spPr>
          <a:xfrm>
            <a:off x="394128" y="6051576"/>
            <a:ext cx="59259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 err="1">
                <a:effectLst/>
              </a:rPr>
              <a:t>경추</a:t>
            </a:r>
            <a:r>
              <a:rPr lang="ko-KR" altLang="en-US" sz="1400" b="1" dirty="0">
                <a:effectLst/>
              </a:rPr>
              <a:t> 정렬 회복 및 심부 근육 기능 강화를 위한 </a:t>
            </a:r>
            <a:r>
              <a:rPr lang="en-US" altLang="ko-KR" sz="1400" b="1" dirty="0">
                <a:effectLst/>
              </a:rPr>
              <a:t>4</a:t>
            </a:r>
            <a:r>
              <a:rPr lang="ko-KR" altLang="en-US" sz="1400" b="1" dirty="0">
                <a:effectLst/>
              </a:rPr>
              <a:t>단계 프로토콜</a:t>
            </a:r>
            <a:br>
              <a:rPr lang="ko-KR" altLang="en-US" sz="1400" dirty="0"/>
            </a:br>
            <a:endParaRPr lang="en-US" altLang="ko-KR" sz="1400" dirty="0"/>
          </a:p>
          <a:p>
            <a:r>
              <a:rPr lang="en-US" altLang="ko-KR" sz="1400" dirty="0"/>
              <a:t>1:1 </a:t>
            </a:r>
            <a:r>
              <a:rPr lang="ko-KR" altLang="en-US" sz="1400" dirty="0"/>
              <a:t>진단 및 체험 세션 안내</a:t>
            </a:r>
            <a:r>
              <a:rPr lang="en-US" altLang="ko-KR" sz="1400" dirty="0"/>
              <a:t>]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체험 내용</a:t>
            </a:r>
            <a:r>
              <a:rPr lang="en-US" altLang="ko-KR" sz="1400" dirty="0"/>
              <a:t>: 1</a:t>
            </a:r>
            <a:r>
              <a:rPr lang="ko-KR" altLang="en-US" sz="1400" dirty="0"/>
              <a:t>단계</a:t>
            </a:r>
            <a:r>
              <a:rPr lang="en-US" altLang="ko-KR" sz="1400" dirty="0"/>
              <a:t>(</a:t>
            </a:r>
            <a:r>
              <a:rPr lang="ko-KR" altLang="en-US" sz="1400" dirty="0"/>
              <a:t>정밀 평가</a:t>
            </a:r>
            <a:r>
              <a:rPr lang="en-US" altLang="ko-KR" sz="1400" dirty="0"/>
              <a:t>) </a:t>
            </a:r>
            <a:r>
              <a:rPr lang="ko-KR" altLang="en-US" sz="1400" dirty="0"/>
              <a:t>진단 후 </a:t>
            </a:r>
            <a:endParaRPr lang="en-US" altLang="ko-KR" sz="1400" dirty="0"/>
          </a:p>
          <a:p>
            <a:r>
              <a:rPr lang="en-US" altLang="ko-KR" sz="1400" dirty="0"/>
              <a:t>                       2</a:t>
            </a:r>
            <a:r>
              <a:rPr lang="ko-KR" altLang="en-US" sz="1400" dirty="0"/>
              <a:t>단계</a:t>
            </a:r>
            <a:r>
              <a:rPr lang="en-US" altLang="ko-KR" sz="1400" dirty="0"/>
              <a:t>(</a:t>
            </a:r>
            <a:r>
              <a:rPr lang="ko-KR" altLang="en-US" sz="1400" dirty="0"/>
              <a:t>주변 근육 이완</a:t>
            </a:r>
            <a:r>
              <a:rPr lang="en-US" altLang="ko-KR" sz="1400" dirty="0"/>
              <a:t>) </a:t>
            </a:r>
            <a:r>
              <a:rPr lang="ko-KR" altLang="en-US" sz="1400" dirty="0"/>
              <a:t>직접 적용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기대 효과</a:t>
            </a:r>
            <a:r>
              <a:rPr lang="en-US" altLang="ko-KR" sz="1400" dirty="0"/>
              <a:t>: </a:t>
            </a:r>
            <a:r>
              <a:rPr lang="ko-KR" altLang="en-US" sz="1400" dirty="0"/>
              <a:t>즉각적인 뒷목의 압박감 감소 및 </a:t>
            </a:r>
            <a:endParaRPr lang="en-US" altLang="ko-KR" sz="1400" dirty="0"/>
          </a:p>
          <a:p>
            <a:r>
              <a:rPr lang="en-US" altLang="ko-KR" sz="1400" dirty="0"/>
              <a:t>                       </a:t>
            </a:r>
            <a:r>
              <a:rPr lang="ko-KR" altLang="en-US" sz="1400" dirty="0"/>
              <a:t>시야가 맑아지는 가벼움 경험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전문 상담</a:t>
            </a:r>
            <a:r>
              <a:rPr lang="en-US" altLang="ko-KR" sz="1400" dirty="0"/>
              <a:t>: </a:t>
            </a:r>
            <a:r>
              <a:rPr lang="ko-KR" altLang="en-US" sz="1400" dirty="0"/>
              <a:t>체험트레이닝과정에서의  신체 반응과 변화를 </a:t>
            </a:r>
            <a:endParaRPr lang="en-US" altLang="ko-KR" sz="1400" dirty="0"/>
          </a:p>
          <a:p>
            <a:r>
              <a:rPr lang="ko-KR" altLang="en-US" sz="1400" dirty="0"/>
              <a:t>                       바탕으로 맞춤 트레이닝 계획 및 권장 기간 투명하게 안내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39E50D5-0816-A810-9A5C-6BFA0571C74D}"/>
              </a:ext>
            </a:extLst>
          </p:cNvPr>
          <p:cNvSpPr/>
          <p:nvPr/>
        </p:nvSpPr>
        <p:spPr>
          <a:xfrm>
            <a:off x="394128" y="2782643"/>
            <a:ext cx="5925990" cy="2945804"/>
          </a:xfrm>
          <a:prstGeom prst="rect">
            <a:avLst/>
          </a:prstGeom>
          <a:solidFill>
            <a:srgbClr val="F5F5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37A7CA-5CE4-3C46-D751-12668CB8D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93" y="2819681"/>
            <a:ext cx="4564213" cy="2871727"/>
          </a:xfrm>
          <a:prstGeom prst="rect">
            <a:avLst/>
          </a:prstGeom>
          <a:solidFill>
            <a:srgbClr val="F5F5F5"/>
          </a:solidFill>
        </p:spPr>
      </p:pic>
    </p:spTree>
    <p:extLst>
      <p:ext uri="{BB962C8B-B14F-4D97-AF65-F5344CB8AC3E}">
        <p14:creationId xmlns:p14="http://schemas.microsoft.com/office/powerpoint/2010/main" val="185246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87A3078-0841-80FD-B115-F694112C4CFA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FF96CDB-E848-1A7C-79ED-8174D78D6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16322"/>
              </p:ext>
            </p:extLst>
          </p:nvPr>
        </p:nvGraphicFramePr>
        <p:xfrm>
          <a:off x="187811" y="169429"/>
          <a:ext cx="6482378" cy="95671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397">
                  <a:extLst>
                    <a:ext uri="{9D8B030D-6E8A-4147-A177-3AD203B41FA5}">
                      <a16:colId xmlns:a16="http://schemas.microsoft.com/office/drawing/2014/main" val="3342577325"/>
                    </a:ext>
                  </a:extLst>
                </a:gridCol>
                <a:gridCol w="1109824">
                  <a:extLst>
                    <a:ext uri="{9D8B030D-6E8A-4147-A177-3AD203B41FA5}">
                      <a16:colId xmlns:a16="http://schemas.microsoft.com/office/drawing/2014/main" val="4072212127"/>
                    </a:ext>
                  </a:extLst>
                </a:gridCol>
                <a:gridCol w="4292157">
                  <a:extLst>
                    <a:ext uri="{9D8B030D-6E8A-4147-A177-3AD203B41FA5}">
                      <a16:colId xmlns:a16="http://schemas.microsoft.com/office/drawing/2014/main" val="1987079948"/>
                    </a:ext>
                  </a:extLst>
                </a:gridCol>
              </a:tblGrid>
              <a:tr h="76173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>
                          <a:effectLst/>
                        </a:rPr>
                        <a:t>경추</a:t>
                      </a:r>
                      <a:r>
                        <a:rPr lang="ko-KR" altLang="en-US" sz="1600" b="1" dirty="0">
                          <a:effectLst/>
                        </a:rPr>
                        <a:t> 정렬 회복 및 심부 근육 기능 강화를 위한 </a:t>
                      </a:r>
                      <a:r>
                        <a:rPr lang="en-US" altLang="ko-KR" sz="1600" b="1" dirty="0">
                          <a:effectLst/>
                        </a:rPr>
                        <a:t>4</a:t>
                      </a:r>
                      <a:r>
                        <a:rPr lang="ko-KR" altLang="en-US" sz="1600" b="1" dirty="0">
                          <a:effectLst/>
                        </a:rPr>
                        <a:t>단계 프로토콜</a:t>
                      </a:r>
                      <a:endParaRPr lang="ko-KR" altLang="en-US" sz="1400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027280"/>
                  </a:ext>
                </a:extLst>
              </a:tr>
              <a:tr h="129845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chemeClr val="bg1"/>
                          </a:solidFill>
                        </a:rPr>
                        <a:t>기능화복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</a:rPr>
                        <a:t> 솔루션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움직임 및 통증 유발점 정밀 평가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 err="1">
                          <a:effectLst/>
                        </a:rPr>
                        <a:t>경추</a:t>
                      </a:r>
                      <a:r>
                        <a:rPr lang="ko-KR" altLang="en-US" sz="1400" dirty="0">
                          <a:effectLst/>
                        </a:rPr>
                        <a:t> 정렬 상태 및 관절 가동 범위</a:t>
                      </a:r>
                      <a:r>
                        <a:rPr lang="en-US" altLang="ko-KR" sz="1400" dirty="0">
                          <a:effectLst/>
                        </a:rPr>
                        <a:t>(ROM) 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정밀 분석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880312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보상 근육 수기 이완 및 활성화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긴장된 근육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 err="1">
                          <a:effectLst/>
                        </a:rPr>
                        <a:t>승모근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 err="1">
                          <a:effectLst/>
                        </a:rPr>
                        <a:t>흉쇄유돌근</a:t>
                      </a:r>
                      <a:r>
                        <a:rPr lang="ko-KR" altLang="en-US" sz="1400" dirty="0">
                          <a:effectLst/>
                        </a:rPr>
                        <a:t> 등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수기 관리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도수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  <a:r>
                        <a:rPr lang="ko-KR" altLang="en-US" sz="1400" dirty="0">
                          <a:effectLst/>
                        </a:rPr>
                        <a:t>및 스트레칭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제 기능을 잃은 </a:t>
                      </a:r>
                      <a:r>
                        <a:rPr lang="ko-KR" altLang="en-US" sz="1400" dirty="0" err="1">
                          <a:effectLst/>
                        </a:rPr>
                        <a:t>경추</a:t>
                      </a:r>
                      <a:r>
                        <a:rPr lang="ko-KR" altLang="en-US" sz="1400" dirty="0">
                          <a:effectLst/>
                        </a:rPr>
                        <a:t> 심부 근육 활성화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52533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effectLst/>
                        </a:rPr>
                        <a:t>경추</a:t>
                      </a:r>
                      <a:r>
                        <a:rPr lang="ko-KR" altLang="en-US" sz="1400" dirty="0">
                          <a:effectLst/>
                        </a:rPr>
                        <a:t> 안정화 저항 운동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목의 올바른 </a:t>
                      </a:r>
                      <a:r>
                        <a:rPr lang="en-US" altLang="ko-KR" sz="1400" dirty="0">
                          <a:effectLst/>
                        </a:rPr>
                        <a:t>C</a:t>
                      </a:r>
                      <a:r>
                        <a:rPr lang="ko-KR" altLang="en-US" sz="1400" dirty="0">
                          <a:effectLst/>
                        </a:rPr>
                        <a:t>자 커브 유지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흔들림 없이 머리 무게를 지탱하는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근본적 안정화 훈련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69524"/>
                  </a:ext>
                </a:extLst>
              </a:tr>
              <a:tr h="39469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코어</a:t>
                      </a:r>
                      <a:endParaRPr lang="en-US" altLang="ko-KR" sz="1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상체</a:t>
                      </a:r>
                      <a:endParaRPr lang="en-US" altLang="ko-KR" sz="1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강화 </a:t>
                      </a:r>
                      <a:endParaRPr lang="en-US" altLang="ko-KR" sz="1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트레이닝 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4-1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통증 제어 및 가동성 회복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마사지볼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 err="1">
                          <a:effectLst/>
                        </a:rPr>
                        <a:t>폼롤러</a:t>
                      </a:r>
                      <a:r>
                        <a:rPr lang="ko-KR" altLang="en-US" sz="1400" dirty="0">
                          <a:effectLst/>
                        </a:rPr>
                        <a:t> 등 소도구를 활용한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 </a:t>
                      </a:r>
                      <a:r>
                        <a:rPr lang="ko-KR" altLang="en-US" sz="1400" dirty="0" err="1">
                          <a:effectLst/>
                        </a:rPr>
                        <a:t>후두하근</a:t>
                      </a:r>
                      <a:r>
                        <a:rPr lang="ko-KR" altLang="en-US" sz="1400" dirty="0">
                          <a:effectLst/>
                        </a:rPr>
                        <a:t> 및 </a:t>
                      </a:r>
                      <a:r>
                        <a:rPr lang="ko-KR" altLang="en-US" sz="1400" dirty="0" err="1">
                          <a:effectLst/>
                        </a:rPr>
                        <a:t>근막</a:t>
                      </a:r>
                      <a:r>
                        <a:rPr lang="ko-KR" altLang="en-US" sz="1400" dirty="0">
                          <a:effectLst/>
                        </a:rPr>
                        <a:t> 이완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스스로 바른 자세를 유지하는 </a:t>
                      </a:r>
                      <a:endParaRPr lang="en-US" altLang="ko-KR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셀프 케어 솔루션 교육</a:t>
                      </a:r>
                      <a:br>
                        <a:rPr lang="ko-KR" altLang="en-US" sz="1400" b="1" dirty="0">
                          <a:solidFill>
                            <a:srgbClr val="FF0000"/>
                          </a:solidFill>
                        </a:rPr>
                      </a:br>
                      <a:br>
                        <a:rPr lang="ko-KR" altLang="en-US" sz="1400" dirty="0"/>
                      </a:b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4-2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기능 회복</a:t>
                      </a:r>
                      <a:endParaRPr lang="en-US" altLang="ko-KR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effectLst/>
                        </a:rPr>
                        <a:t>튜빙</a:t>
                      </a:r>
                      <a:r>
                        <a:rPr lang="ko-KR" altLang="en-US" sz="1400" dirty="0">
                          <a:effectLst/>
                        </a:rPr>
                        <a:t> 저항 및 맨몸 운동 진행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목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어깨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등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견갑골</a:t>
                      </a:r>
                      <a:r>
                        <a:rPr lang="en-US" altLang="ko-KR" sz="1400" dirty="0">
                          <a:effectLst/>
                        </a:rPr>
                        <a:t>)</a:t>
                      </a:r>
                      <a:r>
                        <a:rPr lang="ko-KR" altLang="en-US" sz="1400" dirty="0">
                          <a:effectLst/>
                        </a:rPr>
                        <a:t>의 유기적인 </a:t>
                      </a:r>
                      <a:r>
                        <a:rPr lang="ko-KR" altLang="en-US" sz="1400" dirty="0" err="1">
                          <a:effectLst/>
                        </a:rPr>
                        <a:t>협응력</a:t>
                      </a:r>
                      <a:r>
                        <a:rPr lang="ko-KR" altLang="en-US" sz="1400" dirty="0">
                          <a:effectLst/>
                        </a:rPr>
                        <a:t> 향상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4-3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근력 향상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안정성 확보 후 본격적인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상체 웨이트 트레이닝 돌입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바른 체형을 유지하는 탄탄한 근력 형성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131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856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FBD1D-0D1F-9E5A-6BCF-A53D40EC2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28F8F58-A80B-B76C-EB94-D8AB205A7605}"/>
              </a:ext>
            </a:extLst>
          </p:cNvPr>
          <p:cNvSpPr/>
          <p:nvPr/>
        </p:nvSpPr>
        <p:spPr>
          <a:xfrm>
            <a:off x="130629" y="277479"/>
            <a:ext cx="6607628" cy="64633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어깨 재활 트레이닝 솔루션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74B956-33D0-DD94-0A04-98C8B272F609}"/>
              </a:ext>
            </a:extLst>
          </p:cNvPr>
          <p:cNvSpPr txBox="1"/>
          <p:nvPr/>
        </p:nvSpPr>
        <p:spPr>
          <a:xfrm>
            <a:off x="125186" y="1400980"/>
            <a:ext cx="66076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가동 범위가 가장 넓은 만큼 손상되기 쉽고 복잡한 관절</a:t>
            </a:r>
            <a:r>
              <a:rPr lang="en-US" altLang="ko-KR" dirty="0"/>
              <a:t>, </a:t>
            </a:r>
            <a:r>
              <a:rPr lang="ko-KR" altLang="en-US" dirty="0"/>
              <a:t>어깨</a:t>
            </a:r>
            <a:br>
              <a:rPr lang="ko-KR" altLang="en-US" dirty="0"/>
            </a:br>
            <a:br>
              <a:rPr lang="ko-KR" altLang="en-US" dirty="0"/>
            </a:br>
            <a:r>
              <a:rPr lang="ko-KR" altLang="en-US" dirty="0"/>
              <a:t>무작정 근력 운동을 시작하기 전</a:t>
            </a:r>
            <a:r>
              <a:rPr lang="en-US" altLang="ko-KR" dirty="0"/>
              <a:t>, </a:t>
            </a:r>
            <a:r>
              <a:rPr lang="ko-KR" altLang="en-US" dirty="0"/>
              <a:t>통증 원인 파악과 </a:t>
            </a:r>
            <a:endParaRPr lang="en-US" altLang="ko-KR" dirty="0"/>
          </a:p>
          <a:p>
            <a:pPr algn="ctr"/>
            <a:r>
              <a:rPr lang="ko-KR" altLang="en-US" dirty="0"/>
              <a:t>안정성 확보가 최우선입니다</a:t>
            </a:r>
            <a:r>
              <a:rPr lang="en-US" altLang="ko-KR" dirty="0">
                <a:effectLst/>
              </a:rPr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D93AB3-3FC1-905B-E1A6-2B43FABC0FAD}"/>
              </a:ext>
            </a:extLst>
          </p:cNvPr>
          <p:cNvSpPr txBox="1"/>
          <p:nvPr/>
        </p:nvSpPr>
        <p:spPr>
          <a:xfrm>
            <a:off x="394128" y="6051576"/>
            <a:ext cx="59259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 err="1"/>
              <a:t>회전근개</a:t>
            </a:r>
            <a:r>
              <a:rPr lang="ko-KR" altLang="en-US" sz="1400" b="1" dirty="0"/>
              <a:t> 및 주변 근육 안정화를 통한 체계적인 </a:t>
            </a:r>
            <a:r>
              <a:rPr lang="en-US" altLang="ko-KR" sz="1400" b="1" dirty="0"/>
              <a:t>4</a:t>
            </a:r>
            <a:r>
              <a:rPr lang="ko-KR" altLang="en-US" sz="1400" b="1" dirty="0"/>
              <a:t>단계 기능 회복</a:t>
            </a:r>
            <a:br>
              <a:rPr lang="ko-KR" altLang="en-US" sz="1400" dirty="0"/>
            </a:br>
            <a:endParaRPr lang="en-US" altLang="ko-KR" sz="1400" dirty="0"/>
          </a:p>
          <a:p>
            <a:r>
              <a:rPr lang="en-US" altLang="ko-KR" sz="1400" dirty="0"/>
              <a:t>1:1 </a:t>
            </a:r>
            <a:r>
              <a:rPr lang="ko-KR" altLang="en-US" sz="1400" dirty="0"/>
              <a:t>진단 및 체험 세션 안내</a:t>
            </a:r>
            <a:r>
              <a:rPr lang="en-US" altLang="ko-KR" sz="1400" dirty="0"/>
              <a:t>]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체험 내용</a:t>
            </a:r>
            <a:r>
              <a:rPr lang="en-US" altLang="ko-KR" sz="1400" dirty="0"/>
              <a:t>: 1</a:t>
            </a:r>
            <a:r>
              <a:rPr lang="ko-KR" altLang="en-US" sz="1400" dirty="0"/>
              <a:t>단계</a:t>
            </a:r>
            <a:r>
              <a:rPr lang="en-US" altLang="ko-KR" sz="1400" dirty="0"/>
              <a:t>(</a:t>
            </a:r>
            <a:r>
              <a:rPr lang="ko-KR" altLang="en-US" sz="1400" dirty="0"/>
              <a:t>정밀 평가</a:t>
            </a:r>
            <a:r>
              <a:rPr lang="en-US" altLang="ko-KR" sz="1400" dirty="0"/>
              <a:t>) </a:t>
            </a:r>
            <a:r>
              <a:rPr lang="ko-KR" altLang="en-US" sz="1400" dirty="0"/>
              <a:t>진단 후 </a:t>
            </a:r>
            <a:endParaRPr lang="en-US" altLang="ko-KR" sz="1400" dirty="0"/>
          </a:p>
          <a:p>
            <a:r>
              <a:rPr lang="en-US" altLang="ko-KR" sz="1400" dirty="0"/>
              <a:t>                       2</a:t>
            </a:r>
            <a:r>
              <a:rPr lang="ko-KR" altLang="en-US" sz="1400" dirty="0"/>
              <a:t>단계</a:t>
            </a:r>
            <a:r>
              <a:rPr lang="en-US" altLang="ko-KR" sz="1400" dirty="0"/>
              <a:t>(</a:t>
            </a:r>
            <a:r>
              <a:rPr lang="ko-KR" altLang="en-US" sz="1400" dirty="0"/>
              <a:t>주변 근육 이완</a:t>
            </a:r>
            <a:r>
              <a:rPr lang="en-US" altLang="ko-KR" sz="1400" dirty="0"/>
              <a:t>) </a:t>
            </a:r>
            <a:r>
              <a:rPr lang="ko-KR" altLang="en-US" sz="1400" dirty="0"/>
              <a:t>직접 적용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기대 효과</a:t>
            </a:r>
            <a:r>
              <a:rPr lang="en-US" altLang="ko-KR" sz="1400" dirty="0"/>
              <a:t>: </a:t>
            </a:r>
            <a:r>
              <a:rPr lang="ko-KR" altLang="en-US" sz="1400" dirty="0"/>
              <a:t>즉각적인 뻐근함 감소 및 눈에 띄게 </a:t>
            </a:r>
            <a:endParaRPr lang="en-US" altLang="ko-KR" sz="1400" dirty="0"/>
          </a:p>
          <a:p>
            <a:r>
              <a:rPr lang="en-US" altLang="ko-KR" sz="1400" dirty="0"/>
              <a:t>                       </a:t>
            </a:r>
            <a:r>
              <a:rPr lang="ko-KR" altLang="en-US" sz="1400" dirty="0"/>
              <a:t>부드러워진 가동 범위 경험 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전문 상담</a:t>
            </a:r>
            <a:r>
              <a:rPr lang="en-US" altLang="ko-KR" sz="1400" dirty="0"/>
              <a:t>: </a:t>
            </a:r>
            <a:r>
              <a:rPr lang="ko-KR" altLang="en-US" sz="1400" dirty="0"/>
              <a:t>체험트레이닝과정에서의  신체 반응과 변화를 </a:t>
            </a:r>
            <a:endParaRPr lang="en-US" altLang="ko-KR" sz="1400" dirty="0"/>
          </a:p>
          <a:p>
            <a:r>
              <a:rPr lang="ko-KR" altLang="en-US" sz="1400" dirty="0"/>
              <a:t>                       바탕으로 맞춤 트레이닝 계획 및 권장 기간 투명하게 안내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09678C-1BFC-5131-F37B-2EB7B0897E36}"/>
              </a:ext>
            </a:extLst>
          </p:cNvPr>
          <p:cNvSpPr/>
          <p:nvPr/>
        </p:nvSpPr>
        <p:spPr>
          <a:xfrm>
            <a:off x="394128" y="2782643"/>
            <a:ext cx="5925990" cy="2945804"/>
          </a:xfrm>
          <a:prstGeom prst="rect">
            <a:avLst/>
          </a:prstGeom>
          <a:solidFill>
            <a:srgbClr val="5B616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4BE233C-5FFB-3BEF-9B96-70456C108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939" y="2824267"/>
            <a:ext cx="3482122" cy="2862555"/>
          </a:xfrm>
          <a:prstGeom prst="rect">
            <a:avLst/>
          </a:prstGeom>
          <a:solidFill>
            <a:srgbClr val="757A88"/>
          </a:solidFill>
        </p:spPr>
      </p:pic>
    </p:spTree>
    <p:extLst>
      <p:ext uri="{BB962C8B-B14F-4D97-AF65-F5344CB8AC3E}">
        <p14:creationId xmlns:p14="http://schemas.microsoft.com/office/powerpoint/2010/main" val="2121043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2B088-DB59-9166-3DA0-5A95C3420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8B6B62A-EDDC-F738-8C6C-A687604FDE62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B8ADF9B-49FE-A9BD-44E5-BBD47280297B}"/>
              </a:ext>
            </a:extLst>
          </p:cNvPr>
          <p:cNvGraphicFramePr>
            <a:graphicFrameLocks noGrp="1"/>
          </p:cNvGraphicFramePr>
          <p:nvPr/>
        </p:nvGraphicFramePr>
        <p:xfrm>
          <a:off x="187811" y="169429"/>
          <a:ext cx="6482378" cy="95671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397">
                  <a:extLst>
                    <a:ext uri="{9D8B030D-6E8A-4147-A177-3AD203B41FA5}">
                      <a16:colId xmlns:a16="http://schemas.microsoft.com/office/drawing/2014/main" val="3342577325"/>
                    </a:ext>
                  </a:extLst>
                </a:gridCol>
                <a:gridCol w="1109824">
                  <a:extLst>
                    <a:ext uri="{9D8B030D-6E8A-4147-A177-3AD203B41FA5}">
                      <a16:colId xmlns:a16="http://schemas.microsoft.com/office/drawing/2014/main" val="4072212127"/>
                    </a:ext>
                  </a:extLst>
                </a:gridCol>
                <a:gridCol w="4292157">
                  <a:extLst>
                    <a:ext uri="{9D8B030D-6E8A-4147-A177-3AD203B41FA5}">
                      <a16:colId xmlns:a16="http://schemas.microsoft.com/office/drawing/2014/main" val="1987079948"/>
                    </a:ext>
                  </a:extLst>
                </a:gridCol>
              </a:tblGrid>
              <a:tr h="76173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effectLst/>
                        </a:rPr>
                        <a:t>경추</a:t>
                      </a:r>
                      <a:r>
                        <a:rPr lang="ko-KR" altLang="en-US" sz="1400" b="1" dirty="0">
                          <a:effectLst/>
                        </a:rPr>
                        <a:t> 정렬 회복 및 심부 근육 기능 강화를 위한 </a:t>
                      </a:r>
                      <a:r>
                        <a:rPr lang="en-US" altLang="ko-KR" sz="1400" b="1" dirty="0">
                          <a:effectLst/>
                        </a:rPr>
                        <a:t>4</a:t>
                      </a:r>
                      <a:r>
                        <a:rPr lang="ko-KR" altLang="en-US" sz="1400" b="1" dirty="0">
                          <a:effectLst/>
                        </a:rPr>
                        <a:t>단계 프로토콜</a:t>
                      </a:r>
                      <a:endParaRPr lang="ko-KR" altLang="en-US" sz="1200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027280"/>
                  </a:ext>
                </a:extLst>
              </a:tr>
              <a:tr h="129845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chemeClr val="bg1"/>
                          </a:solidFill>
                        </a:rPr>
                        <a:t>기능화복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</a:rPr>
                        <a:t> 솔루션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움직임 및 통증 유발점 정밀 평가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 err="1">
                          <a:effectLst/>
                        </a:rPr>
                        <a:t>경추</a:t>
                      </a:r>
                      <a:r>
                        <a:rPr lang="ko-KR" altLang="en-US" sz="1400" dirty="0">
                          <a:effectLst/>
                        </a:rPr>
                        <a:t> 정렬 상태 및 관절 가동 범위</a:t>
                      </a:r>
                      <a:r>
                        <a:rPr lang="en-US" altLang="ko-KR" sz="1400" dirty="0">
                          <a:effectLst/>
                        </a:rPr>
                        <a:t>(ROM) 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정밀 분석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880312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보상 근육 수기 이완 및 활성화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긴장된 근육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 err="1">
                          <a:effectLst/>
                        </a:rPr>
                        <a:t>승모근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 err="1">
                          <a:effectLst/>
                        </a:rPr>
                        <a:t>흉쇄유돌근</a:t>
                      </a:r>
                      <a:r>
                        <a:rPr lang="ko-KR" altLang="en-US" sz="1400" dirty="0">
                          <a:effectLst/>
                        </a:rPr>
                        <a:t> 등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수기 관리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도수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  <a:r>
                        <a:rPr lang="ko-KR" altLang="en-US" sz="1400" dirty="0">
                          <a:effectLst/>
                        </a:rPr>
                        <a:t>및 스트레칭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제 기능을 잃은 </a:t>
                      </a:r>
                      <a:r>
                        <a:rPr lang="ko-KR" altLang="en-US" sz="1400" dirty="0" err="1">
                          <a:effectLst/>
                        </a:rPr>
                        <a:t>경추</a:t>
                      </a:r>
                      <a:r>
                        <a:rPr lang="ko-KR" altLang="en-US" sz="1400" dirty="0">
                          <a:effectLst/>
                        </a:rPr>
                        <a:t> 심부 근육 활성화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52533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effectLst/>
                        </a:rPr>
                        <a:t>경추</a:t>
                      </a:r>
                      <a:r>
                        <a:rPr lang="ko-KR" altLang="en-US" sz="1400" dirty="0">
                          <a:effectLst/>
                        </a:rPr>
                        <a:t> 안정화 저항 운동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목의 올바른 </a:t>
                      </a:r>
                      <a:r>
                        <a:rPr lang="en-US" altLang="ko-KR" sz="1400" dirty="0">
                          <a:effectLst/>
                        </a:rPr>
                        <a:t>C</a:t>
                      </a:r>
                      <a:r>
                        <a:rPr lang="ko-KR" altLang="en-US" sz="1400" dirty="0">
                          <a:effectLst/>
                        </a:rPr>
                        <a:t>자 커브 유지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흔들림 없이 머리 무게를 지탱하는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근본적 안정화 훈련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69524"/>
                  </a:ext>
                </a:extLst>
              </a:tr>
              <a:tr h="39469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코어</a:t>
                      </a:r>
                      <a:endParaRPr lang="en-US" altLang="ko-KR" sz="1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상체</a:t>
                      </a:r>
                      <a:endParaRPr lang="en-US" altLang="ko-KR" sz="1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강화 </a:t>
                      </a:r>
                      <a:endParaRPr lang="en-US" altLang="ko-KR" sz="1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트레이닝 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4-1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통증 제어 및 가동성 회복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마사지볼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 err="1">
                          <a:effectLst/>
                        </a:rPr>
                        <a:t>폼롤러</a:t>
                      </a:r>
                      <a:r>
                        <a:rPr lang="ko-KR" altLang="en-US" sz="1400" dirty="0">
                          <a:effectLst/>
                        </a:rPr>
                        <a:t> 등 소도구를 활용한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 </a:t>
                      </a:r>
                      <a:r>
                        <a:rPr lang="ko-KR" altLang="en-US" sz="1400" dirty="0" err="1">
                          <a:effectLst/>
                        </a:rPr>
                        <a:t>후두하근</a:t>
                      </a:r>
                      <a:r>
                        <a:rPr lang="ko-KR" altLang="en-US" sz="1400" dirty="0">
                          <a:effectLst/>
                        </a:rPr>
                        <a:t> 및 </a:t>
                      </a:r>
                      <a:r>
                        <a:rPr lang="ko-KR" altLang="en-US" sz="1400" dirty="0" err="1">
                          <a:effectLst/>
                        </a:rPr>
                        <a:t>근막</a:t>
                      </a:r>
                      <a:r>
                        <a:rPr lang="ko-KR" altLang="en-US" sz="1400" dirty="0">
                          <a:effectLst/>
                        </a:rPr>
                        <a:t> 이완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스스로 바른 자세를 유지하는 </a:t>
                      </a:r>
                      <a:endParaRPr lang="en-US" altLang="ko-KR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셀프 케어 솔루션 교육</a:t>
                      </a:r>
                      <a:br>
                        <a:rPr lang="ko-KR" altLang="en-US" sz="1400" b="1" dirty="0">
                          <a:solidFill>
                            <a:srgbClr val="FF0000"/>
                          </a:solidFill>
                        </a:rPr>
                      </a:br>
                      <a:br>
                        <a:rPr lang="ko-KR" altLang="en-US" sz="1400" dirty="0"/>
                      </a:b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4-2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기능 회복</a:t>
                      </a:r>
                      <a:endParaRPr lang="en-US" altLang="ko-KR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effectLst/>
                        </a:rPr>
                        <a:t>튜빙</a:t>
                      </a:r>
                      <a:r>
                        <a:rPr lang="ko-KR" altLang="en-US" sz="1400" dirty="0">
                          <a:effectLst/>
                        </a:rPr>
                        <a:t> 저항 및 맨몸 운동 진행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목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어깨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등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견갑골</a:t>
                      </a:r>
                      <a:r>
                        <a:rPr lang="en-US" altLang="ko-KR" sz="1400" dirty="0">
                          <a:effectLst/>
                        </a:rPr>
                        <a:t>)</a:t>
                      </a:r>
                      <a:r>
                        <a:rPr lang="ko-KR" altLang="en-US" sz="1400" dirty="0">
                          <a:effectLst/>
                        </a:rPr>
                        <a:t>의 유기적인 </a:t>
                      </a:r>
                      <a:r>
                        <a:rPr lang="ko-KR" altLang="en-US" sz="1400" dirty="0" err="1">
                          <a:effectLst/>
                        </a:rPr>
                        <a:t>협응력</a:t>
                      </a:r>
                      <a:r>
                        <a:rPr lang="ko-KR" altLang="en-US" sz="1400" dirty="0">
                          <a:effectLst/>
                        </a:rPr>
                        <a:t> 향상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4-3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근력 향상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안정성 확보 후 본격적인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상체 웨이트 트레이닝 돌입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바른 체형을 유지하는 탄탄한 근력 형성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131837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7940530-8B87-B4F6-F839-F5CCF36DE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265976"/>
              </p:ext>
            </p:extLst>
          </p:nvPr>
        </p:nvGraphicFramePr>
        <p:xfrm>
          <a:off x="187810" y="169428"/>
          <a:ext cx="6482378" cy="95671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397">
                  <a:extLst>
                    <a:ext uri="{9D8B030D-6E8A-4147-A177-3AD203B41FA5}">
                      <a16:colId xmlns:a16="http://schemas.microsoft.com/office/drawing/2014/main" val="3342577325"/>
                    </a:ext>
                  </a:extLst>
                </a:gridCol>
                <a:gridCol w="848843">
                  <a:extLst>
                    <a:ext uri="{9D8B030D-6E8A-4147-A177-3AD203B41FA5}">
                      <a16:colId xmlns:a16="http://schemas.microsoft.com/office/drawing/2014/main" val="4072212127"/>
                    </a:ext>
                  </a:extLst>
                </a:gridCol>
                <a:gridCol w="4553138">
                  <a:extLst>
                    <a:ext uri="{9D8B030D-6E8A-4147-A177-3AD203B41FA5}">
                      <a16:colId xmlns:a16="http://schemas.microsoft.com/office/drawing/2014/main" val="1987079948"/>
                    </a:ext>
                  </a:extLst>
                </a:gridCol>
              </a:tblGrid>
              <a:tr h="761739">
                <a:tc gridSpan="3">
                  <a:txBody>
                    <a:bodyPr/>
                    <a:lstStyle/>
                    <a:p>
                      <a:pPr algn="ctr"/>
                      <a:r>
                        <a:rPr lang="ko-KR" altLang="en-US" sz="1800" b="1" dirty="0"/>
                        <a:t>어깨 재활 트레이닝 솔루션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027280"/>
                  </a:ext>
                </a:extLst>
              </a:tr>
              <a:tr h="129845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bg1"/>
                          </a:solidFill>
                        </a:rPr>
                        <a:t>기능화복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</a:rPr>
                        <a:t> 솔루션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움직임 및 통증 유발점 정밀 평가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유연성 및 관절 가동 범위</a:t>
                      </a:r>
                      <a:r>
                        <a:rPr lang="en-US" altLang="ko-KR" sz="1400" dirty="0">
                          <a:effectLst/>
                        </a:rPr>
                        <a:t>(ROM) </a:t>
                      </a:r>
                      <a:r>
                        <a:rPr lang="ko-KR" altLang="en-US" sz="1400" dirty="0">
                          <a:effectLst/>
                        </a:rPr>
                        <a:t>정밀 분석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통증 및 움직임 제한이 발생하는 정확한 구간 확인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880312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effectLst/>
                        </a:rPr>
                        <a:t>회전근개</a:t>
                      </a:r>
                      <a:r>
                        <a:rPr lang="ko-KR" altLang="en-US" sz="1400" dirty="0">
                          <a:effectLst/>
                        </a:rPr>
                        <a:t> 및 보상 근육 활성화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어깨 관절에 무리를 주는 움직임 철저히 제한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수기 관리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도수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  <a:r>
                        <a:rPr lang="ko-KR" altLang="en-US" sz="1400" dirty="0">
                          <a:effectLst/>
                        </a:rPr>
                        <a:t>및 타겟 스트레칭으로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주변 근육 우선 활성화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52533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effectLst/>
                        </a:rPr>
                        <a:t>어깨 안정화 저항 운동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어깨 관절의 흔들림을 잡아주는 맞춤형 저항 운동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 err="1">
                          <a:effectLst/>
                        </a:rPr>
                        <a:t>회전근개</a:t>
                      </a:r>
                      <a:r>
                        <a:rPr lang="ko-KR" altLang="en-US" sz="1400" dirty="0">
                          <a:effectLst/>
                        </a:rPr>
                        <a:t> 및 주변 근육을 바탕으로 근본적인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/>
                      <a:r>
                        <a:rPr lang="ko-KR" altLang="en-US" sz="1400" dirty="0">
                          <a:effectLst/>
                        </a:rPr>
                        <a:t>안정성 확립</a:t>
                      </a:r>
                      <a:endParaRPr lang="en-US" altLang="ko-KR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69524"/>
                  </a:ext>
                </a:extLst>
              </a:tr>
              <a:tr h="39469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</a:rPr>
                        <a:t>회전</a:t>
                      </a:r>
                      <a:endParaRPr lang="en-US" altLang="ko-KR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</a:rPr>
                        <a:t>근계</a:t>
                      </a:r>
                      <a:endParaRPr lang="en-US" altLang="ko-KR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endParaRPr lang="en-US" altLang="ko-KR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</a:rPr>
                        <a:t>강화 </a:t>
                      </a:r>
                      <a:endParaRPr lang="en-US" altLang="ko-KR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</a:rPr>
                        <a:t>트레이닝 </a:t>
                      </a:r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4-1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통증 제어 및 자가 </a:t>
                      </a:r>
                      <a:r>
                        <a:rPr lang="ko-KR" altLang="en-US" sz="1400" b="1" dirty="0" err="1">
                          <a:solidFill>
                            <a:srgbClr val="FF0000"/>
                          </a:solidFill>
                          <a:effectLst/>
                        </a:rPr>
                        <a:t>근막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 이완</a:t>
                      </a:r>
                      <a:endParaRPr lang="en-US" altLang="ko-KR" sz="1400" b="1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effectLst/>
                        </a:rPr>
                        <a:t>폼롤러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마사지볼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 err="1">
                          <a:effectLst/>
                        </a:rPr>
                        <a:t>웨이버</a:t>
                      </a:r>
                      <a:r>
                        <a:rPr lang="ko-KR" altLang="en-US" sz="1400" dirty="0">
                          <a:effectLst/>
                        </a:rPr>
                        <a:t> 등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 전문 소도구 활용 </a:t>
                      </a:r>
                      <a:r>
                        <a:rPr lang="ko-KR" altLang="en-US" sz="1400" dirty="0" err="1">
                          <a:effectLst/>
                        </a:rPr>
                        <a:t>근막</a:t>
                      </a:r>
                      <a:r>
                        <a:rPr lang="ko-KR" altLang="en-US" sz="1400" dirty="0">
                          <a:effectLst/>
                        </a:rPr>
                        <a:t> 이완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일상에서 스스로 통증을 조절하는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셀프 케어 솔루션 교육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4-2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기능 회복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맨몸 및 </a:t>
                      </a:r>
                      <a:r>
                        <a:rPr lang="ko-KR" altLang="en-US" sz="1400" dirty="0" err="1">
                          <a:effectLst/>
                        </a:rPr>
                        <a:t>튜빙</a:t>
                      </a:r>
                      <a:r>
                        <a:rPr lang="ko-KR" altLang="en-US" sz="1400" dirty="0">
                          <a:effectLst/>
                        </a:rPr>
                        <a:t> 저항 운동 진행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안전하게 </a:t>
                      </a:r>
                      <a:r>
                        <a:rPr lang="ko-KR" altLang="en-US" sz="1400" dirty="0" err="1">
                          <a:effectLst/>
                        </a:rPr>
                        <a:t>회전근개</a:t>
                      </a:r>
                      <a:r>
                        <a:rPr lang="ko-KR" altLang="en-US" sz="1400" dirty="0">
                          <a:effectLst/>
                        </a:rPr>
                        <a:t> 집중 강화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4-3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근력 향상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안정성이 완벽히 확보된 어깨를 바탕으로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웨이트 트레이닝 돌입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견고한 어깨 근육 형성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131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042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F18F2-B593-038B-39B9-718C62E6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F564BC6-0AB3-86BF-EBF8-8A28F32EC0BD}"/>
              </a:ext>
            </a:extLst>
          </p:cNvPr>
          <p:cNvSpPr/>
          <p:nvPr/>
        </p:nvSpPr>
        <p:spPr>
          <a:xfrm>
            <a:off x="130629" y="277479"/>
            <a:ext cx="6607628" cy="64633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허리 재활 트레이닝 솔루션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F06A03-7CE9-0C70-F850-D7268D7F750C}"/>
              </a:ext>
            </a:extLst>
          </p:cNvPr>
          <p:cNvSpPr txBox="1"/>
          <p:nvPr/>
        </p:nvSpPr>
        <p:spPr>
          <a:xfrm>
            <a:off x="125186" y="1400980"/>
            <a:ext cx="66076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* </a:t>
            </a:r>
            <a:r>
              <a:rPr lang="ko-KR" altLang="en-US" dirty="0"/>
              <a:t>통증의 근본적인 원인 파악이 허리 재활의 첫걸음입니다</a:t>
            </a:r>
            <a:r>
              <a:rPr lang="en-US" altLang="ko-KR" dirty="0"/>
              <a:t>.</a:t>
            </a:r>
            <a:br>
              <a:rPr lang="ko-KR" altLang="en-US" dirty="0"/>
            </a:br>
            <a:br>
              <a:rPr lang="ko-KR" altLang="en-US" dirty="0"/>
            </a:br>
            <a:r>
              <a:rPr lang="ko-KR" altLang="en-US" dirty="0"/>
              <a:t>무리한 움직임을 철저히 배제하고 안전하게 신체 본연의 기능을 회복합니다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63C03A-2B93-23DB-2E61-D675531D8E0D}"/>
              </a:ext>
            </a:extLst>
          </p:cNvPr>
          <p:cNvSpPr txBox="1"/>
          <p:nvPr/>
        </p:nvSpPr>
        <p:spPr>
          <a:xfrm>
            <a:off x="394128" y="6051576"/>
            <a:ext cx="59259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 err="1"/>
              <a:t>회전근개</a:t>
            </a:r>
            <a:r>
              <a:rPr lang="ko-KR" altLang="en-US" sz="1400" b="1" dirty="0"/>
              <a:t> 및 주변 근육 안정화를 통한 체계적인 </a:t>
            </a:r>
            <a:r>
              <a:rPr lang="en-US" altLang="ko-KR" sz="1400" b="1" dirty="0"/>
              <a:t>5</a:t>
            </a:r>
            <a:r>
              <a:rPr lang="ko-KR" altLang="en-US" sz="1400" b="1" dirty="0"/>
              <a:t>단계 기능 회복</a:t>
            </a:r>
            <a:br>
              <a:rPr lang="ko-KR" altLang="en-US" sz="1400" dirty="0"/>
            </a:br>
            <a:endParaRPr lang="en-US" altLang="ko-KR" sz="1400" dirty="0"/>
          </a:p>
          <a:p>
            <a:r>
              <a:rPr lang="en-US" altLang="ko-KR" sz="1400" dirty="0"/>
              <a:t>1:1 </a:t>
            </a:r>
            <a:r>
              <a:rPr lang="ko-KR" altLang="en-US" sz="1400" dirty="0"/>
              <a:t>진단 및 체험 세션 안내</a:t>
            </a:r>
            <a:r>
              <a:rPr lang="en-US" altLang="ko-KR" sz="1400" dirty="0"/>
              <a:t>]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체험 내용</a:t>
            </a:r>
            <a:r>
              <a:rPr lang="en-US" altLang="ko-KR" sz="1400" dirty="0"/>
              <a:t>: 1</a:t>
            </a:r>
            <a:r>
              <a:rPr lang="ko-KR" altLang="en-US" sz="1400" dirty="0"/>
              <a:t>단계</a:t>
            </a:r>
            <a:r>
              <a:rPr lang="en-US" altLang="ko-KR" sz="1400" dirty="0"/>
              <a:t>(</a:t>
            </a:r>
            <a:r>
              <a:rPr lang="ko-KR" altLang="en-US" sz="1400" dirty="0"/>
              <a:t>움직임 평가</a:t>
            </a:r>
            <a:r>
              <a:rPr lang="en-US" altLang="ko-KR" sz="1400" dirty="0"/>
              <a:t>) </a:t>
            </a:r>
            <a:r>
              <a:rPr lang="ko-KR" altLang="en-US" sz="1400" dirty="0"/>
              <a:t>진행 후 </a:t>
            </a:r>
            <a:endParaRPr lang="en-US" altLang="ko-KR" sz="1400" dirty="0"/>
          </a:p>
          <a:p>
            <a:r>
              <a:rPr lang="en-US" altLang="ko-KR" sz="1400" dirty="0"/>
              <a:t>                       2</a:t>
            </a:r>
            <a:r>
              <a:rPr lang="ko-KR" altLang="en-US" sz="1400" dirty="0"/>
              <a:t>단계</a:t>
            </a:r>
            <a:r>
              <a:rPr lang="en-US" altLang="ko-KR" sz="1400" dirty="0"/>
              <a:t>(</a:t>
            </a:r>
            <a:r>
              <a:rPr lang="ko-KR" altLang="en-US" sz="1400" dirty="0"/>
              <a:t>주변 근육 활성화</a:t>
            </a:r>
            <a:r>
              <a:rPr lang="en-US" altLang="ko-KR" sz="1400" dirty="0"/>
              <a:t>) </a:t>
            </a:r>
            <a:r>
              <a:rPr lang="ko-KR" altLang="en-US" sz="1400" dirty="0"/>
              <a:t>직접 적용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기대 효과</a:t>
            </a:r>
            <a:r>
              <a:rPr lang="en-US" altLang="ko-KR" sz="1400" dirty="0"/>
              <a:t>: </a:t>
            </a:r>
            <a:r>
              <a:rPr lang="ko-KR" altLang="en-US" sz="1400" dirty="0"/>
              <a:t>짧은 세션 안에서도 즉각적인 </a:t>
            </a:r>
            <a:endParaRPr lang="en-US" altLang="ko-KR" sz="1400" dirty="0"/>
          </a:p>
          <a:p>
            <a:r>
              <a:rPr lang="en-US" altLang="ko-KR" sz="1400" dirty="0"/>
              <a:t>                      </a:t>
            </a:r>
            <a:r>
              <a:rPr lang="ko-KR" altLang="en-US" sz="1400" dirty="0"/>
              <a:t>허리 통증 완화 및 움직임 개선 경험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전문 상담</a:t>
            </a:r>
            <a:r>
              <a:rPr lang="en-US" altLang="ko-KR" sz="1400" dirty="0"/>
              <a:t>: </a:t>
            </a:r>
            <a:r>
              <a:rPr lang="ko-KR" altLang="en-US" sz="1400" dirty="0"/>
              <a:t>긍정적 신체 변화를 바탕으로 </a:t>
            </a:r>
            <a:endParaRPr lang="en-US" altLang="ko-KR" sz="1400" dirty="0"/>
          </a:p>
          <a:p>
            <a:r>
              <a:rPr lang="en-US" altLang="ko-KR" sz="1400" dirty="0"/>
              <a:t>                       </a:t>
            </a:r>
            <a:r>
              <a:rPr lang="ko-KR" altLang="en-US" sz="1400" dirty="0"/>
              <a:t>맞춤 트레이닝 계획 및 권장 기간 투명하게 안내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44B530-8DE9-7B6D-90CC-F08867694C12}"/>
              </a:ext>
            </a:extLst>
          </p:cNvPr>
          <p:cNvSpPr/>
          <p:nvPr/>
        </p:nvSpPr>
        <p:spPr>
          <a:xfrm>
            <a:off x="394128" y="2782643"/>
            <a:ext cx="5925990" cy="2945804"/>
          </a:xfrm>
          <a:prstGeom prst="rect">
            <a:avLst/>
          </a:prstGeom>
          <a:solidFill>
            <a:srgbClr val="A19B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AA4F639-4918-74D5-5CC1-EE7CCA451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122" y="2856162"/>
            <a:ext cx="4527755" cy="279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79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A6919-9B01-14E5-F2DB-91E477D40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D4D584A-7B7F-2792-3E64-8CA56DFFEAB3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0227577-6C32-80FA-F415-DF5CDCCB4996}"/>
              </a:ext>
            </a:extLst>
          </p:cNvPr>
          <p:cNvGraphicFramePr>
            <a:graphicFrameLocks noGrp="1"/>
          </p:cNvGraphicFramePr>
          <p:nvPr/>
        </p:nvGraphicFramePr>
        <p:xfrm>
          <a:off x="187811" y="169429"/>
          <a:ext cx="6482378" cy="95671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397">
                  <a:extLst>
                    <a:ext uri="{9D8B030D-6E8A-4147-A177-3AD203B41FA5}">
                      <a16:colId xmlns:a16="http://schemas.microsoft.com/office/drawing/2014/main" val="3342577325"/>
                    </a:ext>
                  </a:extLst>
                </a:gridCol>
                <a:gridCol w="1109824">
                  <a:extLst>
                    <a:ext uri="{9D8B030D-6E8A-4147-A177-3AD203B41FA5}">
                      <a16:colId xmlns:a16="http://schemas.microsoft.com/office/drawing/2014/main" val="4072212127"/>
                    </a:ext>
                  </a:extLst>
                </a:gridCol>
                <a:gridCol w="4292157">
                  <a:extLst>
                    <a:ext uri="{9D8B030D-6E8A-4147-A177-3AD203B41FA5}">
                      <a16:colId xmlns:a16="http://schemas.microsoft.com/office/drawing/2014/main" val="1987079948"/>
                    </a:ext>
                  </a:extLst>
                </a:gridCol>
              </a:tblGrid>
              <a:tr h="76173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effectLst/>
                        </a:rPr>
                        <a:t>경추</a:t>
                      </a:r>
                      <a:r>
                        <a:rPr lang="ko-KR" altLang="en-US" sz="1400" b="1" dirty="0">
                          <a:effectLst/>
                        </a:rPr>
                        <a:t> 정렬 회복 및 심부 근육 기능 강화를 위한 </a:t>
                      </a:r>
                      <a:r>
                        <a:rPr lang="en-US" altLang="ko-KR" sz="1400" b="1" dirty="0">
                          <a:effectLst/>
                        </a:rPr>
                        <a:t>4</a:t>
                      </a:r>
                      <a:r>
                        <a:rPr lang="ko-KR" altLang="en-US" sz="1400" b="1" dirty="0">
                          <a:effectLst/>
                        </a:rPr>
                        <a:t>단계 프로토콜</a:t>
                      </a:r>
                      <a:endParaRPr lang="ko-KR" altLang="en-US" sz="1200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027280"/>
                  </a:ext>
                </a:extLst>
              </a:tr>
              <a:tr h="129845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chemeClr val="bg1"/>
                          </a:solidFill>
                        </a:rPr>
                        <a:t>기능화복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</a:rPr>
                        <a:t> 솔루션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움직임 및 통증 유발점 정밀 평가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 err="1">
                          <a:effectLst/>
                        </a:rPr>
                        <a:t>경추</a:t>
                      </a:r>
                      <a:r>
                        <a:rPr lang="ko-KR" altLang="en-US" sz="1400" dirty="0">
                          <a:effectLst/>
                        </a:rPr>
                        <a:t> 정렬 상태 및 관절 가동 범위</a:t>
                      </a:r>
                      <a:r>
                        <a:rPr lang="en-US" altLang="ko-KR" sz="1400" dirty="0">
                          <a:effectLst/>
                        </a:rPr>
                        <a:t>(ROM) 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정밀 분석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880312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보상 근육 수기 이완 및 활성화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긴장된 근육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 err="1">
                          <a:effectLst/>
                        </a:rPr>
                        <a:t>승모근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 err="1">
                          <a:effectLst/>
                        </a:rPr>
                        <a:t>흉쇄유돌근</a:t>
                      </a:r>
                      <a:r>
                        <a:rPr lang="ko-KR" altLang="en-US" sz="1400" dirty="0">
                          <a:effectLst/>
                        </a:rPr>
                        <a:t> 등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수기 관리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도수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  <a:r>
                        <a:rPr lang="ko-KR" altLang="en-US" sz="1400" dirty="0">
                          <a:effectLst/>
                        </a:rPr>
                        <a:t>및 스트레칭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제 기능을 잃은 </a:t>
                      </a:r>
                      <a:r>
                        <a:rPr lang="ko-KR" altLang="en-US" sz="1400" dirty="0" err="1">
                          <a:effectLst/>
                        </a:rPr>
                        <a:t>경추</a:t>
                      </a:r>
                      <a:r>
                        <a:rPr lang="ko-KR" altLang="en-US" sz="1400" dirty="0">
                          <a:effectLst/>
                        </a:rPr>
                        <a:t> 심부 근육 활성화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52533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effectLst/>
                        </a:rPr>
                        <a:t>경추</a:t>
                      </a:r>
                      <a:r>
                        <a:rPr lang="ko-KR" altLang="en-US" sz="1400" dirty="0">
                          <a:effectLst/>
                        </a:rPr>
                        <a:t> 안정화 저항 운동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목의 올바른 </a:t>
                      </a:r>
                      <a:r>
                        <a:rPr lang="en-US" altLang="ko-KR" sz="1400" dirty="0">
                          <a:effectLst/>
                        </a:rPr>
                        <a:t>C</a:t>
                      </a:r>
                      <a:r>
                        <a:rPr lang="ko-KR" altLang="en-US" sz="1400" dirty="0">
                          <a:effectLst/>
                        </a:rPr>
                        <a:t>자 커브 유지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흔들림 없이 머리 무게를 지탱하는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근본적 안정화 훈련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69524"/>
                  </a:ext>
                </a:extLst>
              </a:tr>
              <a:tr h="39469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코어</a:t>
                      </a:r>
                      <a:endParaRPr lang="en-US" altLang="ko-KR" sz="1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상체</a:t>
                      </a:r>
                      <a:endParaRPr lang="en-US" altLang="ko-KR" sz="1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강화 </a:t>
                      </a:r>
                      <a:endParaRPr lang="en-US" altLang="ko-KR" sz="1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트레이닝 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4-1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통증 제어 및 가동성 회복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마사지볼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 err="1">
                          <a:effectLst/>
                        </a:rPr>
                        <a:t>폼롤러</a:t>
                      </a:r>
                      <a:r>
                        <a:rPr lang="ko-KR" altLang="en-US" sz="1400" dirty="0">
                          <a:effectLst/>
                        </a:rPr>
                        <a:t> 등 소도구를 활용한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 </a:t>
                      </a:r>
                      <a:r>
                        <a:rPr lang="ko-KR" altLang="en-US" sz="1400" dirty="0" err="1">
                          <a:effectLst/>
                        </a:rPr>
                        <a:t>후두하근</a:t>
                      </a:r>
                      <a:r>
                        <a:rPr lang="ko-KR" altLang="en-US" sz="1400" dirty="0">
                          <a:effectLst/>
                        </a:rPr>
                        <a:t> 및 </a:t>
                      </a:r>
                      <a:r>
                        <a:rPr lang="ko-KR" altLang="en-US" sz="1400" dirty="0" err="1">
                          <a:effectLst/>
                        </a:rPr>
                        <a:t>근막</a:t>
                      </a:r>
                      <a:r>
                        <a:rPr lang="ko-KR" altLang="en-US" sz="1400" dirty="0">
                          <a:effectLst/>
                        </a:rPr>
                        <a:t> 이완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스스로 바른 자세를 유지하는 </a:t>
                      </a:r>
                      <a:endParaRPr lang="en-US" altLang="ko-KR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셀프 케어 솔루션 교육</a:t>
                      </a:r>
                      <a:br>
                        <a:rPr lang="ko-KR" altLang="en-US" sz="1400" b="1" dirty="0">
                          <a:solidFill>
                            <a:srgbClr val="FF0000"/>
                          </a:solidFill>
                        </a:rPr>
                      </a:br>
                      <a:br>
                        <a:rPr lang="ko-KR" altLang="en-US" sz="1400" dirty="0"/>
                      </a:b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4-2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기능 회복</a:t>
                      </a:r>
                      <a:endParaRPr lang="en-US" altLang="ko-KR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effectLst/>
                        </a:rPr>
                        <a:t>튜빙</a:t>
                      </a:r>
                      <a:r>
                        <a:rPr lang="ko-KR" altLang="en-US" sz="1400" dirty="0">
                          <a:effectLst/>
                        </a:rPr>
                        <a:t> 저항 및 맨몸 운동 진행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목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어깨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등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견갑골</a:t>
                      </a:r>
                      <a:r>
                        <a:rPr lang="en-US" altLang="ko-KR" sz="1400" dirty="0">
                          <a:effectLst/>
                        </a:rPr>
                        <a:t>)</a:t>
                      </a:r>
                      <a:r>
                        <a:rPr lang="ko-KR" altLang="en-US" sz="1400" dirty="0">
                          <a:effectLst/>
                        </a:rPr>
                        <a:t>의 유기적인 </a:t>
                      </a:r>
                      <a:r>
                        <a:rPr lang="ko-KR" altLang="en-US" sz="1400" dirty="0" err="1">
                          <a:effectLst/>
                        </a:rPr>
                        <a:t>협응력</a:t>
                      </a:r>
                      <a:r>
                        <a:rPr lang="ko-KR" altLang="en-US" sz="1400" dirty="0">
                          <a:effectLst/>
                        </a:rPr>
                        <a:t> 향상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4-3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근력 향상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안정성 확보 후 본격적인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상체 웨이트 트레이닝 돌입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바른 체형을 유지하는 탄탄한 근력 형성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131837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FE9522B-6D06-5523-008E-81F8917394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967174"/>
              </p:ext>
            </p:extLst>
          </p:nvPr>
        </p:nvGraphicFramePr>
        <p:xfrm>
          <a:off x="187810" y="169428"/>
          <a:ext cx="6482378" cy="95671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397">
                  <a:extLst>
                    <a:ext uri="{9D8B030D-6E8A-4147-A177-3AD203B41FA5}">
                      <a16:colId xmlns:a16="http://schemas.microsoft.com/office/drawing/2014/main" val="3342577325"/>
                    </a:ext>
                  </a:extLst>
                </a:gridCol>
                <a:gridCol w="848843">
                  <a:extLst>
                    <a:ext uri="{9D8B030D-6E8A-4147-A177-3AD203B41FA5}">
                      <a16:colId xmlns:a16="http://schemas.microsoft.com/office/drawing/2014/main" val="4072212127"/>
                    </a:ext>
                  </a:extLst>
                </a:gridCol>
                <a:gridCol w="4553138">
                  <a:extLst>
                    <a:ext uri="{9D8B030D-6E8A-4147-A177-3AD203B41FA5}">
                      <a16:colId xmlns:a16="http://schemas.microsoft.com/office/drawing/2014/main" val="1987079948"/>
                    </a:ext>
                  </a:extLst>
                </a:gridCol>
              </a:tblGrid>
              <a:tr h="76173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effectLst/>
                        </a:rPr>
                        <a:t>허리 기능 회복 </a:t>
                      </a:r>
                      <a:r>
                        <a:rPr lang="en-US" altLang="ko-KR" sz="1800" b="1" dirty="0">
                          <a:effectLst/>
                        </a:rPr>
                        <a:t>5</a:t>
                      </a:r>
                      <a:r>
                        <a:rPr lang="ko-KR" altLang="en-US" sz="1800" b="1" dirty="0">
                          <a:effectLst/>
                        </a:rPr>
                        <a:t>단계 솔루션</a:t>
                      </a:r>
                      <a:endParaRPr lang="ko-KR" altLang="en-US" sz="1600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027280"/>
                  </a:ext>
                </a:extLst>
              </a:tr>
              <a:tr h="129845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bg1"/>
                          </a:solidFill>
                        </a:rPr>
                        <a:t>기능화복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</a:rPr>
                        <a:t> 솔루션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움직임 및 가동범위 평가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체형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유연성 및 관절 가동범위</a:t>
                      </a:r>
                      <a:r>
                        <a:rPr lang="en-US" altLang="ko-KR" sz="1400" dirty="0">
                          <a:effectLst/>
                        </a:rPr>
                        <a:t>(ROM) </a:t>
                      </a:r>
                      <a:r>
                        <a:rPr lang="ko-KR" altLang="en-US" sz="1400" dirty="0">
                          <a:effectLst/>
                        </a:rPr>
                        <a:t>정밀 분석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신체 불균형 및 허리 통증 유발 요인 파악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880312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보상 근육 활성화 및 수기 이완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직접적인 허리 사용 제한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허리 역할을 분담할 주변 근육을 수기 관리와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스트레칭으로 활성화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52533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effectLst/>
                        </a:rPr>
                        <a:t>주변 </a:t>
                      </a:r>
                      <a:r>
                        <a:rPr lang="ko-KR" altLang="en-US" sz="1400" dirty="0" err="1">
                          <a:effectLst/>
                        </a:rPr>
                        <a:t>근육군</a:t>
                      </a:r>
                      <a:r>
                        <a:rPr lang="ko-KR" altLang="en-US" sz="1400" dirty="0">
                          <a:effectLst/>
                        </a:rPr>
                        <a:t> 강화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활성화된 주변 근육의 근력을 점진적 강화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척추가 받는 부하를 안전하게 분산</a:t>
                      </a:r>
                      <a:br>
                        <a:rPr lang="ko-KR" altLang="en-US" sz="1400" dirty="0"/>
                      </a:br>
                      <a:endParaRPr lang="en-US" altLang="ko-KR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69524"/>
                  </a:ext>
                </a:extLst>
              </a:tr>
              <a:tr h="1973476"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</a:rPr>
                        <a:t>강화 </a:t>
                      </a:r>
                      <a:endParaRPr lang="en-US" altLang="ko-KR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</a:rPr>
                        <a:t>트레이닝 </a:t>
                      </a:r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effectLst/>
                        </a:rPr>
                        <a:t>            단계별 코어 트레이닝 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중력 저항 최소화</a:t>
                      </a:r>
                      <a:r>
                        <a:rPr lang="en-US" altLang="ko-KR" sz="1400" dirty="0">
                          <a:effectLst/>
                        </a:rPr>
                        <a:t>)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/>
                        <a:t>    </a:t>
                      </a:r>
                      <a:r>
                        <a:rPr lang="ko-KR" altLang="en-US" sz="1400" dirty="0">
                          <a:effectLst/>
                        </a:rPr>
                        <a:t>척추 압박을 최소화하는 자세부터 순차적 진행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/>
                        <a:t>    </a:t>
                      </a:r>
                      <a:r>
                        <a:rPr lang="en-US" altLang="ko-KR" sz="1400" dirty="0"/>
                        <a:t>4-</a:t>
                      </a: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단계</a:t>
                      </a:r>
                      <a:r>
                        <a:rPr lang="en-US" altLang="ko-KR" sz="1400" dirty="0">
                          <a:effectLst/>
                        </a:rPr>
                        <a:t>: </a:t>
                      </a:r>
                      <a:r>
                        <a:rPr lang="ko-KR" altLang="en-US" sz="1400" dirty="0">
                          <a:effectLst/>
                        </a:rPr>
                        <a:t>누운 자세 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맨몸 및 </a:t>
                      </a:r>
                      <a:r>
                        <a:rPr lang="ko-KR" altLang="en-US" sz="1400" dirty="0" err="1">
                          <a:effectLst/>
                        </a:rPr>
                        <a:t>튜빙</a:t>
                      </a:r>
                      <a:r>
                        <a:rPr lang="ko-KR" altLang="en-US" sz="1400" dirty="0">
                          <a:effectLst/>
                        </a:rPr>
                        <a:t> 저항 운동</a:t>
                      </a:r>
                      <a:r>
                        <a:rPr lang="en-US" altLang="ko-KR" sz="1400" dirty="0">
                          <a:effectLst/>
                        </a:rPr>
                        <a:t>)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/>
                        <a:t>    </a:t>
                      </a:r>
                      <a:r>
                        <a:rPr lang="en-US" altLang="ko-KR" sz="1400" dirty="0"/>
                        <a:t>4-</a:t>
                      </a:r>
                      <a:r>
                        <a:rPr lang="en-US" altLang="ko-KR" sz="1400" dirty="0">
                          <a:effectLst/>
                        </a:rPr>
                        <a:t>2</a:t>
                      </a:r>
                      <a:r>
                        <a:rPr lang="ko-KR" altLang="en-US" sz="1400" dirty="0">
                          <a:effectLst/>
                        </a:rPr>
                        <a:t>단계</a:t>
                      </a:r>
                      <a:r>
                        <a:rPr lang="en-US" altLang="ko-KR" sz="1400" dirty="0">
                          <a:effectLst/>
                        </a:rPr>
                        <a:t>: </a:t>
                      </a:r>
                      <a:r>
                        <a:rPr lang="ko-KR" altLang="en-US" sz="1400" dirty="0">
                          <a:effectLst/>
                        </a:rPr>
                        <a:t>엎드린 자세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/>
                        <a:t>    </a:t>
                      </a:r>
                      <a:r>
                        <a:rPr lang="en-US" altLang="ko-KR" sz="1400" dirty="0"/>
                        <a:t>4-</a:t>
                      </a:r>
                      <a:r>
                        <a:rPr lang="en-US" altLang="ko-KR" sz="1400" dirty="0">
                          <a:effectLst/>
                        </a:rPr>
                        <a:t>3</a:t>
                      </a:r>
                      <a:r>
                        <a:rPr lang="ko-KR" altLang="en-US" sz="1400" dirty="0">
                          <a:effectLst/>
                        </a:rPr>
                        <a:t>단계</a:t>
                      </a:r>
                      <a:r>
                        <a:rPr lang="en-US" altLang="ko-KR" sz="1400" dirty="0">
                          <a:effectLst/>
                        </a:rPr>
                        <a:t>: </a:t>
                      </a:r>
                      <a:r>
                        <a:rPr lang="ko-KR" altLang="en-US" sz="1400" dirty="0">
                          <a:effectLst/>
                        </a:rPr>
                        <a:t>앉은 자세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/>
                        <a:t>    </a:t>
                      </a:r>
                      <a:r>
                        <a:rPr lang="en-US" altLang="ko-KR" sz="1400" dirty="0"/>
                        <a:t>4-</a:t>
                      </a:r>
                      <a:r>
                        <a:rPr lang="en-US" altLang="ko-KR" sz="1400" dirty="0">
                          <a:effectLst/>
                        </a:rPr>
                        <a:t>4</a:t>
                      </a:r>
                      <a:r>
                        <a:rPr lang="ko-KR" altLang="en-US" sz="1400" dirty="0">
                          <a:effectLst/>
                        </a:rPr>
                        <a:t>단계</a:t>
                      </a:r>
                      <a:r>
                        <a:rPr lang="en-US" altLang="ko-KR" sz="1400" dirty="0">
                          <a:effectLst/>
                        </a:rPr>
                        <a:t>: </a:t>
                      </a:r>
                      <a:r>
                        <a:rPr lang="ko-KR" altLang="en-US" sz="1400" dirty="0">
                          <a:effectLst/>
                        </a:rPr>
                        <a:t>선 자세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131837"/>
                  </a:ext>
                </a:extLst>
              </a:tr>
              <a:tr h="19734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직접적인 허리 강화 운동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통증 완화 및 움직임 개선이 완벽히 이루어진 후 진행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가장 안전한 방법으로 직접적인 허리 강화 돌입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043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8009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70DDE-3575-10FD-AF1F-F9CADF693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A593AF9-2CE1-69D8-05DC-4F1F15B2C606}"/>
              </a:ext>
            </a:extLst>
          </p:cNvPr>
          <p:cNvSpPr/>
          <p:nvPr/>
        </p:nvSpPr>
        <p:spPr>
          <a:xfrm>
            <a:off x="130629" y="277479"/>
            <a:ext cx="6607628" cy="64633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무릎 재활 트레이닝 솔루션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A74BE-D53D-D263-D976-16F5D3C88C70}"/>
              </a:ext>
            </a:extLst>
          </p:cNvPr>
          <p:cNvSpPr txBox="1"/>
          <p:nvPr/>
        </p:nvSpPr>
        <p:spPr>
          <a:xfrm>
            <a:off x="125186" y="1400980"/>
            <a:ext cx="66076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체중을 지탱하고 일상생활에 관여하는 핵심 관절</a:t>
            </a:r>
            <a:r>
              <a:rPr lang="en-US" altLang="ko-KR" dirty="0"/>
              <a:t>, </a:t>
            </a:r>
            <a:r>
              <a:rPr lang="ko-KR" altLang="en-US" dirty="0"/>
              <a:t>무릎</a:t>
            </a:r>
            <a:br>
              <a:rPr lang="ko-KR" altLang="en-US" dirty="0"/>
            </a:br>
            <a:br>
              <a:rPr lang="ko-KR" altLang="en-US" dirty="0"/>
            </a:br>
            <a:r>
              <a:rPr lang="ko-KR" altLang="en-US" dirty="0"/>
              <a:t>통증 부위만 무작정 자극하는 것은 증상을 악화시킵니다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97E52-3D95-7F07-82CB-BEEC64282A33}"/>
              </a:ext>
            </a:extLst>
          </p:cNvPr>
          <p:cNvSpPr txBox="1"/>
          <p:nvPr/>
        </p:nvSpPr>
        <p:spPr>
          <a:xfrm>
            <a:off x="394128" y="6051576"/>
            <a:ext cx="592599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 </a:t>
            </a:r>
            <a:r>
              <a:rPr lang="ko-KR" altLang="en-US" sz="1400" b="1" dirty="0"/>
              <a:t>무릎 기능 회복 </a:t>
            </a:r>
            <a:r>
              <a:rPr lang="en-US" altLang="ko-KR" sz="1400" b="1" dirty="0"/>
              <a:t>4</a:t>
            </a:r>
            <a:r>
              <a:rPr lang="ko-KR" altLang="en-US" sz="1400" b="1" dirty="0"/>
              <a:t>단계 솔루션</a:t>
            </a:r>
            <a:br>
              <a:rPr lang="ko-KR" altLang="en-US" sz="1400" dirty="0"/>
            </a:br>
            <a:endParaRPr lang="en-US" altLang="ko-KR" sz="1400" dirty="0"/>
          </a:p>
          <a:p>
            <a:r>
              <a:rPr lang="en-US" altLang="ko-KR" sz="1400" dirty="0"/>
              <a:t>1:1 </a:t>
            </a:r>
            <a:r>
              <a:rPr lang="ko-KR" altLang="en-US" sz="1400" dirty="0"/>
              <a:t>진단 및 체험 세션 안내</a:t>
            </a:r>
            <a:r>
              <a:rPr lang="en-US" altLang="ko-KR" sz="1400" dirty="0"/>
              <a:t>]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체험 내용</a:t>
            </a:r>
            <a:r>
              <a:rPr lang="en-US" altLang="ko-KR" sz="1400" dirty="0"/>
              <a:t>: 1</a:t>
            </a:r>
            <a:r>
              <a:rPr lang="ko-KR" altLang="en-US" sz="1400" dirty="0"/>
              <a:t>단계</a:t>
            </a:r>
            <a:r>
              <a:rPr lang="en-US" altLang="ko-KR" sz="1400" dirty="0"/>
              <a:t>(</a:t>
            </a:r>
            <a:r>
              <a:rPr lang="ko-KR" altLang="en-US" sz="1400" dirty="0"/>
              <a:t>정밀 평가</a:t>
            </a:r>
            <a:r>
              <a:rPr lang="en-US" altLang="ko-KR" sz="1400" dirty="0"/>
              <a:t>) </a:t>
            </a:r>
            <a:r>
              <a:rPr lang="ko-KR" altLang="en-US" sz="1400" dirty="0"/>
              <a:t>진단 후 </a:t>
            </a:r>
            <a:r>
              <a:rPr lang="en-US" altLang="ko-KR" sz="1400" dirty="0"/>
              <a:t>2</a:t>
            </a:r>
            <a:r>
              <a:rPr lang="ko-KR" altLang="en-US" sz="1400" dirty="0"/>
              <a:t>단계</a:t>
            </a:r>
            <a:r>
              <a:rPr lang="en-US" altLang="ko-KR" sz="1400" dirty="0"/>
              <a:t>(</a:t>
            </a:r>
            <a:r>
              <a:rPr lang="ko-KR" altLang="en-US" sz="1400" dirty="0"/>
              <a:t>원인 근육 이완</a:t>
            </a:r>
            <a:r>
              <a:rPr lang="en-US" altLang="ko-KR" sz="1400" dirty="0"/>
              <a:t>) </a:t>
            </a:r>
            <a:r>
              <a:rPr lang="ko-KR" altLang="en-US" sz="1400" dirty="0"/>
              <a:t>직접 적용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기대 효과</a:t>
            </a:r>
            <a:r>
              <a:rPr lang="en-US" altLang="ko-KR" sz="1400" dirty="0"/>
              <a:t>: </a:t>
            </a:r>
            <a:r>
              <a:rPr lang="ko-KR" altLang="en-US" sz="1400" dirty="0"/>
              <a:t>즉각적인 무릎의 뻣뻣함 감소 및 보행 시 </a:t>
            </a:r>
            <a:endParaRPr lang="en-US" altLang="ko-KR" sz="1400" dirty="0"/>
          </a:p>
          <a:p>
            <a:r>
              <a:rPr lang="en-US" altLang="ko-KR" sz="1400" dirty="0"/>
              <a:t>                       </a:t>
            </a:r>
            <a:r>
              <a:rPr lang="ko-KR" altLang="en-US" sz="1400" dirty="0"/>
              <a:t>체중 부하 </a:t>
            </a:r>
            <a:r>
              <a:rPr lang="ko-KR" altLang="en-US" sz="1400" dirty="0" err="1"/>
              <a:t>가벼워짐</a:t>
            </a:r>
            <a:r>
              <a:rPr lang="ko-KR" altLang="en-US" sz="1400" dirty="0"/>
              <a:t> 경험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전문 상담</a:t>
            </a:r>
            <a:r>
              <a:rPr lang="en-US" altLang="ko-KR" sz="1400" dirty="0"/>
              <a:t>: </a:t>
            </a:r>
            <a:r>
              <a:rPr lang="ko-KR" altLang="en-US" sz="1400" dirty="0"/>
              <a:t>긍정적 신체 변화를 바탕으로 </a:t>
            </a:r>
            <a:endParaRPr lang="en-US" altLang="ko-KR" sz="1400" dirty="0"/>
          </a:p>
          <a:p>
            <a:r>
              <a:rPr lang="en-US" altLang="ko-KR" sz="1400" dirty="0"/>
              <a:t>                       </a:t>
            </a:r>
            <a:r>
              <a:rPr lang="ko-KR" altLang="en-US" sz="1400" dirty="0"/>
              <a:t>맞춤 트레이닝 계획 및 권장 기간 투명하게 안내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A760D91-05B7-B682-6069-36900944E174}"/>
              </a:ext>
            </a:extLst>
          </p:cNvPr>
          <p:cNvSpPr/>
          <p:nvPr/>
        </p:nvSpPr>
        <p:spPr>
          <a:xfrm>
            <a:off x="394128" y="2782643"/>
            <a:ext cx="5925990" cy="2945804"/>
          </a:xfrm>
          <a:prstGeom prst="rect">
            <a:avLst/>
          </a:prstGeom>
          <a:solidFill>
            <a:srgbClr val="8887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137B3DA-F62B-FD91-3010-A71B1543F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517" y="2816228"/>
            <a:ext cx="4546966" cy="290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478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46DFC-20F2-A170-2356-ED5A5048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38F0880-2819-0733-1FDF-C4C5586D4CB4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BED7D4B-BE1A-76CC-E8A7-B08003712AF7}"/>
              </a:ext>
            </a:extLst>
          </p:cNvPr>
          <p:cNvGraphicFramePr>
            <a:graphicFrameLocks noGrp="1"/>
          </p:cNvGraphicFramePr>
          <p:nvPr/>
        </p:nvGraphicFramePr>
        <p:xfrm>
          <a:off x="187811" y="169429"/>
          <a:ext cx="6482378" cy="95671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397">
                  <a:extLst>
                    <a:ext uri="{9D8B030D-6E8A-4147-A177-3AD203B41FA5}">
                      <a16:colId xmlns:a16="http://schemas.microsoft.com/office/drawing/2014/main" val="3342577325"/>
                    </a:ext>
                  </a:extLst>
                </a:gridCol>
                <a:gridCol w="1109824">
                  <a:extLst>
                    <a:ext uri="{9D8B030D-6E8A-4147-A177-3AD203B41FA5}">
                      <a16:colId xmlns:a16="http://schemas.microsoft.com/office/drawing/2014/main" val="4072212127"/>
                    </a:ext>
                  </a:extLst>
                </a:gridCol>
                <a:gridCol w="4292157">
                  <a:extLst>
                    <a:ext uri="{9D8B030D-6E8A-4147-A177-3AD203B41FA5}">
                      <a16:colId xmlns:a16="http://schemas.microsoft.com/office/drawing/2014/main" val="1987079948"/>
                    </a:ext>
                  </a:extLst>
                </a:gridCol>
              </a:tblGrid>
              <a:tr h="76173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effectLst/>
                        </a:rPr>
                        <a:t>경추</a:t>
                      </a:r>
                      <a:r>
                        <a:rPr lang="ko-KR" altLang="en-US" sz="1400" b="1" dirty="0">
                          <a:effectLst/>
                        </a:rPr>
                        <a:t> 정렬 회복 및 심부 근육 기능 강화를 위한 </a:t>
                      </a:r>
                      <a:r>
                        <a:rPr lang="en-US" altLang="ko-KR" sz="1400" b="1" dirty="0">
                          <a:effectLst/>
                        </a:rPr>
                        <a:t>4</a:t>
                      </a:r>
                      <a:r>
                        <a:rPr lang="ko-KR" altLang="en-US" sz="1400" b="1" dirty="0">
                          <a:effectLst/>
                        </a:rPr>
                        <a:t>단계 프로토콜</a:t>
                      </a:r>
                      <a:endParaRPr lang="ko-KR" altLang="en-US" sz="1200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027280"/>
                  </a:ext>
                </a:extLst>
              </a:tr>
              <a:tr h="129845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chemeClr val="bg1"/>
                          </a:solidFill>
                        </a:rPr>
                        <a:t>기능화복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</a:rPr>
                        <a:t> 솔루션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움직임 및 통증 유발점 정밀 평가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 err="1">
                          <a:effectLst/>
                        </a:rPr>
                        <a:t>경추</a:t>
                      </a:r>
                      <a:r>
                        <a:rPr lang="ko-KR" altLang="en-US" sz="1400" dirty="0">
                          <a:effectLst/>
                        </a:rPr>
                        <a:t> 정렬 상태 및 관절 가동 범위</a:t>
                      </a:r>
                      <a:r>
                        <a:rPr lang="en-US" altLang="ko-KR" sz="1400" dirty="0">
                          <a:effectLst/>
                        </a:rPr>
                        <a:t>(ROM) 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정밀 분석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880312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보상 근육 수기 이완 및 활성화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긴장된 근육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 err="1">
                          <a:effectLst/>
                        </a:rPr>
                        <a:t>승모근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 err="1">
                          <a:effectLst/>
                        </a:rPr>
                        <a:t>흉쇄유돌근</a:t>
                      </a:r>
                      <a:r>
                        <a:rPr lang="ko-KR" altLang="en-US" sz="1400" dirty="0">
                          <a:effectLst/>
                        </a:rPr>
                        <a:t> 등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수기 관리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도수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  <a:r>
                        <a:rPr lang="ko-KR" altLang="en-US" sz="1400" dirty="0">
                          <a:effectLst/>
                        </a:rPr>
                        <a:t>및 스트레칭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제 기능을 잃은 </a:t>
                      </a:r>
                      <a:r>
                        <a:rPr lang="ko-KR" altLang="en-US" sz="1400" dirty="0" err="1">
                          <a:effectLst/>
                        </a:rPr>
                        <a:t>경추</a:t>
                      </a:r>
                      <a:r>
                        <a:rPr lang="ko-KR" altLang="en-US" sz="1400" dirty="0">
                          <a:effectLst/>
                        </a:rPr>
                        <a:t> 심부 근육 활성화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52533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effectLst/>
                        </a:rPr>
                        <a:t>경추</a:t>
                      </a:r>
                      <a:r>
                        <a:rPr lang="ko-KR" altLang="en-US" sz="1400" dirty="0">
                          <a:effectLst/>
                        </a:rPr>
                        <a:t> 안정화 저항 운동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목의 올바른 </a:t>
                      </a:r>
                      <a:r>
                        <a:rPr lang="en-US" altLang="ko-KR" sz="1400" dirty="0">
                          <a:effectLst/>
                        </a:rPr>
                        <a:t>C</a:t>
                      </a:r>
                      <a:r>
                        <a:rPr lang="ko-KR" altLang="en-US" sz="1400" dirty="0">
                          <a:effectLst/>
                        </a:rPr>
                        <a:t>자 커브 유지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흔들림 없이 머리 무게를 지탱하는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근본적 안정화 훈련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69524"/>
                  </a:ext>
                </a:extLst>
              </a:tr>
              <a:tr h="39469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코어</a:t>
                      </a:r>
                      <a:endParaRPr lang="en-US" altLang="ko-KR" sz="1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상체</a:t>
                      </a:r>
                      <a:endParaRPr lang="en-US" altLang="ko-KR" sz="1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강화 </a:t>
                      </a:r>
                      <a:endParaRPr lang="en-US" altLang="ko-KR" sz="1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트레이닝 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4-1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통증 제어 및 가동성 회복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마사지볼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 err="1">
                          <a:effectLst/>
                        </a:rPr>
                        <a:t>폼롤러</a:t>
                      </a:r>
                      <a:r>
                        <a:rPr lang="ko-KR" altLang="en-US" sz="1400" dirty="0">
                          <a:effectLst/>
                        </a:rPr>
                        <a:t> 등 소도구를 활용한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 </a:t>
                      </a:r>
                      <a:r>
                        <a:rPr lang="ko-KR" altLang="en-US" sz="1400" dirty="0" err="1">
                          <a:effectLst/>
                        </a:rPr>
                        <a:t>후두하근</a:t>
                      </a:r>
                      <a:r>
                        <a:rPr lang="ko-KR" altLang="en-US" sz="1400" dirty="0">
                          <a:effectLst/>
                        </a:rPr>
                        <a:t> 및 </a:t>
                      </a:r>
                      <a:r>
                        <a:rPr lang="ko-KR" altLang="en-US" sz="1400" dirty="0" err="1">
                          <a:effectLst/>
                        </a:rPr>
                        <a:t>근막</a:t>
                      </a:r>
                      <a:r>
                        <a:rPr lang="ko-KR" altLang="en-US" sz="1400" dirty="0">
                          <a:effectLst/>
                        </a:rPr>
                        <a:t> 이완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스스로 바른 자세를 유지하는 </a:t>
                      </a:r>
                      <a:endParaRPr lang="en-US" altLang="ko-KR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셀프 케어 솔루션 교육</a:t>
                      </a:r>
                      <a:br>
                        <a:rPr lang="ko-KR" altLang="en-US" sz="1400" b="1" dirty="0">
                          <a:solidFill>
                            <a:srgbClr val="FF0000"/>
                          </a:solidFill>
                        </a:rPr>
                      </a:br>
                      <a:br>
                        <a:rPr lang="ko-KR" altLang="en-US" sz="1400" dirty="0"/>
                      </a:b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4-2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기능 회복</a:t>
                      </a:r>
                      <a:endParaRPr lang="en-US" altLang="ko-KR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effectLst/>
                        </a:rPr>
                        <a:t>튜빙</a:t>
                      </a:r>
                      <a:r>
                        <a:rPr lang="ko-KR" altLang="en-US" sz="1400" dirty="0">
                          <a:effectLst/>
                        </a:rPr>
                        <a:t> 저항 및 맨몸 운동 진행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목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어깨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등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견갑골</a:t>
                      </a:r>
                      <a:r>
                        <a:rPr lang="en-US" altLang="ko-KR" sz="1400" dirty="0">
                          <a:effectLst/>
                        </a:rPr>
                        <a:t>)</a:t>
                      </a:r>
                      <a:r>
                        <a:rPr lang="ko-KR" altLang="en-US" sz="1400" dirty="0">
                          <a:effectLst/>
                        </a:rPr>
                        <a:t>의 유기적인 </a:t>
                      </a:r>
                      <a:r>
                        <a:rPr lang="ko-KR" altLang="en-US" sz="1400" dirty="0" err="1">
                          <a:effectLst/>
                        </a:rPr>
                        <a:t>협응력</a:t>
                      </a:r>
                      <a:r>
                        <a:rPr lang="ko-KR" altLang="en-US" sz="1400" dirty="0">
                          <a:effectLst/>
                        </a:rPr>
                        <a:t> 향상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4-3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근력 향상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안정성 확보 후 본격적인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상체 웨이트 트레이닝 돌입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바른 체형을 유지하는 탄탄한 근력 형성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131837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76872CB-0F1B-91B4-2133-0F636F400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8406"/>
              </p:ext>
            </p:extLst>
          </p:nvPr>
        </p:nvGraphicFramePr>
        <p:xfrm>
          <a:off x="187810" y="169429"/>
          <a:ext cx="6482378" cy="95671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397">
                  <a:extLst>
                    <a:ext uri="{9D8B030D-6E8A-4147-A177-3AD203B41FA5}">
                      <a16:colId xmlns:a16="http://schemas.microsoft.com/office/drawing/2014/main" val="3342577325"/>
                    </a:ext>
                  </a:extLst>
                </a:gridCol>
                <a:gridCol w="848843">
                  <a:extLst>
                    <a:ext uri="{9D8B030D-6E8A-4147-A177-3AD203B41FA5}">
                      <a16:colId xmlns:a16="http://schemas.microsoft.com/office/drawing/2014/main" val="4072212127"/>
                    </a:ext>
                  </a:extLst>
                </a:gridCol>
                <a:gridCol w="4553138">
                  <a:extLst>
                    <a:ext uri="{9D8B030D-6E8A-4147-A177-3AD203B41FA5}">
                      <a16:colId xmlns:a16="http://schemas.microsoft.com/office/drawing/2014/main" val="1987079948"/>
                    </a:ext>
                  </a:extLst>
                </a:gridCol>
              </a:tblGrid>
              <a:tr h="76173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무릎 기능 회복 </a:t>
                      </a:r>
                      <a:r>
                        <a:rPr lang="en-US" altLang="ko-KR" sz="1600" b="1" dirty="0"/>
                        <a:t>4</a:t>
                      </a:r>
                      <a:r>
                        <a:rPr lang="ko-KR" altLang="en-US" sz="1600" b="1" dirty="0"/>
                        <a:t>단계 솔루션</a:t>
                      </a:r>
                      <a:endParaRPr lang="ko-KR" altLang="en-US" sz="1400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027280"/>
                  </a:ext>
                </a:extLst>
              </a:tr>
              <a:tr h="129845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bg1"/>
                          </a:solidFill>
                        </a:rPr>
                        <a:t>기능화복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</a:rPr>
                        <a:t> 솔루션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움직임 및 통증 유발점 정밀 평가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유연성 및 관절 가동 범위</a:t>
                      </a:r>
                      <a:r>
                        <a:rPr lang="en-US" altLang="ko-KR" sz="1400" dirty="0">
                          <a:effectLst/>
                        </a:rPr>
                        <a:t>(ROM) </a:t>
                      </a:r>
                      <a:r>
                        <a:rPr lang="ko-KR" altLang="en-US" sz="1400" dirty="0">
                          <a:effectLst/>
                        </a:rPr>
                        <a:t>정밀 분석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통증과 제한이 발생하는 정확한 구간과 동작 확인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880312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원인 근육 수기 이완 및 활성화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움직임에 제한을 주는 주변 원인 근육 탐색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수기 관리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도수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  <a:r>
                        <a:rPr lang="ko-KR" altLang="en-US" sz="1400" dirty="0">
                          <a:effectLst/>
                        </a:rPr>
                        <a:t>및 스트레칭으로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무릎 안정화 근육 활성화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52533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effectLst/>
                        </a:rPr>
                        <a:t>하체 안정화 저항 운동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관절의 흔들림을 잡아주는 근본적 하체 안정화 진행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보행 시 충격을 올바르게 흡수할 수 있는 저항 훈련</a:t>
                      </a:r>
                      <a:br>
                        <a:rPr lang="ko-KR" altLang="en-US" sz="1400" dirty="0"/>
                      </a:br>
                      <a:endParaRPr lang="en-US" altLang="ko-KR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69524"/>
                  </a:ext>
                </a:extLst>
              </a:tr>
              <a:tr h="3946952">
                <a:tc>
                  <a:txBody>
                    <a:bodyPr/>
                    <a:lstStyle/>
                    <a:p>
                      <a:pPr algn="ctr" latinLnBrk="1"/>
                      <a:endParaRPr lang="en-US" altLang="ko-KR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</a:rPr>
                        <a:t>강화 </a:t>
                      </a:r>
                      <a:endParaRPr lang="en-US" altLang="ko-KR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</a:rPr>
                        <a:t>트레이닝 </a:t>
                      </a:r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effectLst/>
                        </a:rPr>
                        <a:t>4-1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effectLst/>
                        </a:rPr>
                        <a:t>통증 제어 및 가동성 회복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 err="1">
                          <a:effectLst/>
                        </a:rPr>
                        <a:t>파워플레이트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진동 </a:t>
                      </a:r>
                      <a:r>
                        <a:rPr lang="ko-KR" altLang="en-US" sz="1400" dirty="0" err="1">
                          <a:effectLst/>
                        </a:rPr>
                        <a:t>폼롤러</a:t>
                      </a:r>
                      <a:r>
                        <a:rPr lang="ko-KR" altLang="en-US" sz="1400" dirty="0">
                          <a:effectLst/>
                        </a:rPr>
                        <a:t> 등 전문 장비 활용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effectLst/>
                        </a:rPr>
                        <a:t>근막</a:t>
                      </a:r>
                      <a:r>
                        <a:rPr lang="ko-KR" altLang="en-US" sz="1400" dirty="0">
                          <a:effectLst/>
                        </a:rPr>
                        <a:t> 이완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스스로 일상 통증을 조절하는 셀프 케어 솔루션 교육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en-US" altLang="ko-KR" sz="1400" dirty="0">
                          <a:solidFill>
                            <a:srgbClr val="FF0000"/>
                          </a:solidFill>
                          <a:effectLst/>
                        </a:rPr>
                        <a:t>4-2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effectLst/>
                        </a:rPr>
                        <a:t>기능 회복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무릎 부담을 최소화한 맨몸 및 </a:t>
                      </a:r>
                      <a:r>
                        <a:rPr lang="ko-KR" altLang="en-US" sz="1400" dirty="0" err="1">
                          <a:effectLst/>
                        </a:rPr>
                        <a:t>튜빙</a:t>
                      </a:r>
                      <a:r>
                        <a:rPr lang="ko-KR" altLang="en-US" sz="1400" dirty="0">
                          <a:effectLst/>
                        </a:rPr>
                        <a:t> 저항 운동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무릎 관절 집중 강화 훈련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en-US" altLang="ko-KR" sz="1400" dirty="0">
                          <a:solidFill>
                            <a:srgbClr val="FF0000"/>
                          </a:solidFill>
                          <a:effectLst/>
                        </a:rPr>
                        <a:t>4-3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effectLst/>
                        </a:rPr>
                        <a:t>근력 향상</a:t>
                      </a:r>
                      <a:br>
                        <a:rPr lang="ko-KR" altLang="en-US" sz="1400" dirty="0">
                          <a:solidFill>
                            <a:srgbClr val="FF0000"/>
                          </a:solidFill>
                        </a:rPr>
                      </a:br>
                      <a:r>
                        <a:rPr lang="ko-KR" altLang="en-US" sz="1400" dirty="0">
                          <a:effectLst/>
                        </a:rPr>
                        <a:t>안정성이 완벽히 확보된 상태에서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 웨이트 트레이닝 돌입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탄탄하고 건강한 하체 근육 형성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131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677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39FB7-A895-CE90-6D38-1AEFEC283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AAAA25C-3F78-8A2A-B84C-3F38254BBC3F}"/>
              </a:ext>
            </a:extLst>
          </p:cNvPr>
          <p:cNvSpPr/>
          <p:nvPr/>
        </p:nvSpPr>
        <p:spPr>
          <a:xfrm>
            <a:off x="130629" y="277479"/>
            <a:ext cx="6607628" cy="64633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발목 재활 트레이닝 솔루션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989A72-4596-B60A-2D8A-79E9A863386A}"/>
              </a:ext>
            </a:extLst>
          </p:cNvPr>
          <p:cNvSpPr txBox="1"/>
          <p:nvPr/>
        </p:nvSpPr>
        <p:spPr>
          <a:xfrm>
            <a:off x="125186" y="1400980"/>
            <a:ext cx="66076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dirty="0"/>
              <a:t>우리 몸의 체중을 가장 먼저 지탱하는 뿌리</a:t>
            </a:r>
            <a:r>
              <a:rPr lang="en-US" altLang="ko-KR" dirty="0"/>
              <a:t>, </a:t>
            </a:r>
            <a:r>
              <a:rPr lang="ko-KR" altLang="en-US" dirty="0"/>
              <a:t>발목</a:t>
            </a:r>
            <a:br>
              <a:rPr lang="ko-KR" altLang="en-US" dirty="0"/>
            </a:br>
            <a:br>
              <a:rPr lang="ko-KR" altLang="en-US" dirty="0"/>
            </a:br>
            <a:r>
              <a:rPr lang="ko-KR" altLang="en-US" dirty="0"/>
              <a:t>불안정성을 방치하면 무릎</a:t>
            </a:r>
            <a:r>
              <a:rPr lang="en-US" altLang="ko-KR" dirty="0"/>
              <a:t>, </a:t>
            </a:r>
            <a:r>
              <a:rPr lang="ko-KR" altLang="en-US" dirty="0"/>
              <a:t>골반</a:t>
            </a:r>
            <a:r>
              <a:rPr lang="en-US" altLang="ko-KR" dirty="0"/>
              <a:t>, </a:t>
            </a:r>
            <a:r>
              <a:rPr lang="ko-KR" altLang="en-US" dirty="0"/>
              <a:t>허리까지 </a:t>
            </a:r>
            <a:endParaRPr lang="en-US" altLang="ko-KR" dirty="0"/>
          </a:p>
          <a:p>
            <a:pPr algn="ctr"/>
            <a:r>
              <a:rPr lang="ko-KR" altLang="en-US" dirty="0"/>
              <a:t>체형 전체의 붕괴로 이어집니다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573A8B-1C0B-F180-6CFE-E9C8F0370A39}"/>
              </a:ext>
            </a:extLst>
          </p:cNvPr>
          <p:cNvSpPr txBox="1"/>
          <p:nvPr/>
        </p:nvSpPr>
        <p:spPr>
          <a:xfrm>
            <a:off x="394128" y="6051576"/>
            <a:ext cx="592599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 고유수용성 감각</a:t>
            </a:r>
            <a:r>
              <a:rPr lang="en-US" altLang="ko-KR" sz="1400" dirty="0"/>
              <a:t>(</a:t>
            </a:r>
            <a:r>
              <a:rPr lang="ko-KR" altLang="en-US" sz="1400" dirty="0"/>
              <a:t>균형</a:t>
            </a:r>
            <a:r>
              <a:rPr lang="en-US" altLang="ko-KR" sz="1400" dirty="0"/>
              <a:t>) </a:t>
            </a:r>
            <a:r>
              <a:rPr lang="ko-KR" altLang="en-US" sz="1400" dirty="0"/>
              <a:t>회복 및 주변 조직 강화를 위한 </a:t>
            </a:r>
            <a:r>
              <a:rPr lang="en-US" altLang="ko-KR" sz="1400" dirty="0"/>
              <a:t>4</a:t>
            </a:r>
            <a:r>
              <a:rPr lang="ko-KR" altLang="en-US" sz="1400" dirty="0"/>
              <a:t>단계 프로토콜</a:t>
            </a:r>
            <a:br>
              <a:rPr lang="ko-KR" altLang="en-US" sz="1400" dirty="0"/>
            </a:br>
            <a:endParaRPr lang="en-US" altLang="ko-KR" sz="1400" dirty="0"/>
          </a:p>
          <a:p>
            <a:r>
              <a:rPr lang="en-US" altLang="ko-KR" sz="1400" dirty="0"/>
              <a:t>1:1 </a:t>
            </a:r>
            <a:r>
              <a:rPr lang="ko-KR" altLang="en-US" sz="1400" dirty="0"/>
              <a:t>진단 및 체험 세션 안내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체험 내용</a:t>
            </a:r>
            <a:r>
              <a:rPr lang="en-US" altLang="ko-KR" sz="1400" dirty="0"/>
              <a:t>: 1</a:t>
            </a:r>
            <a:r>
              <a:rPr lang="ko-KR" altLang="en-US" sz="1400" dirty="0"/>
              <a:t>단계</a:t>
            </a:r>
            <a:r>
              <a:rPr lang="en-US" altLang="ko-KR" sz="1400" dirty="0"/>
              <a:t>(</a:t>
            </a:r>
            <a:r>
              <a:rPr lang="ko-KR" altLang="en-US" sz="1400" dirty="0"/>
              <a:t>정밀 평가</a:t>
            </a:r>
            <a:r>
              <a:rPr lang="en-US" altLang="ko-KR" sz="1400" dirty="0"/>
              <a:t>) </a:t>
            </a:r>
            <a:r>
              <a:rPr lang="ko-KR" altLang="en-US" sz="1400" dirty="0"/>
              <a:t>진단 후 </a:t>
            </a:r>
            <a:endParaRPr lang="en-US" altLang="ko-KR" sz="1400" dirty="0"/>
          </a:p>
          <a:p>
            <a:r>
              <a:rPr lang="en-US" altLang="ko-KR" sz="1400" dirty="0"/>
              <a:t>                       2</a:t>
            </a:r>
            <a:r>
              <a:rPr lang="ko-KR" altLang="en-US" sz="1400" dirty="0"/>
              <a:t>단계</a:t>
            </a:r>
            <a:r>
              <a:rPr lang="en-US" altLang="ko-KR" sz="1400" dirty="0"/>
              <a:t>(</a:t>
            </a:r>
            <a:r>
              <a:rPr lang="ko-KR" altLang="en-US" sz="1400" dirty="0"/>
              <a:t>주변 근육 이완</a:t>
            </a:r>
            <a:r>
              <a:rPr lang="en-US" altLang="ko-KR" sz="1400" dirty="0"/>
              <a:t>) </a:t>
            </a:r>
            <a:r>
              <a:rPr lang="ko-KR" altLang="en-US" sz="1400" dirty="0"/>
              <a:t>직접 적용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기대 효과</a:t>
            </a:r>
            <a:r>
              <a:rPr lang="en-US" altLang="ko-KR" sz="1400" dirty="0"/>
              <a:t>: </a:t>
            </a:r>
            <a:r>
              <a:rPr lang="ko-KR" altLang="en-US" sz="1400" dirty="0"/>
              <a:t>즉각적인 불안정함 감소 및 바닥을 딛는 </a:t>
            </a:r>
            <a:endParaRPr lang="en-US" altLang="ko-KR" sz="1400" dirty="0"/>
          </a:p>
          <a:p>
            <a:r>
              <a:rPr lang="en-US" altLang="ko-KR" sz="1400" dirty="0"/>
              <a:t>                       </a:t>
            </a:r>
            <a:r>
              <a:rPr lang="ko-KR" altLang="en-US" sz="1400" dirty="0"/>
              <a:t>견고한 체중 지지 경험</a:t>
            </a:r>
            <a:br>
              <a:rPr lang="ko-KR" altLang="en-US" sz="1400" dirty="0"/>
            </a:br>
            <a:br>
              <a:rPr lang="ko-KR" altLang="en-US" sz="1400" dirty="0"/>
            </a:br>
            <a:r>
              <a:rPr lang="ko-KR" altLang="en-US" sz="1400" dirty="0"/>
              <a:t>전문 상담</a:t>
            </a:r>
            <a:r>
              <a:rPr lang="en-US" altLang="ko-KR" sz="1400" dirty="0"/>
              <a:t>: </a:t>
            </a:r>
            <a:r>
              <a:rPr lang="ko-KR" altLang="en-US" sz="1400" dirty="0"/>
              <a:t>긍정적 신체 변화를 바탕으로 </a:t>
            </a:r>
            <a:endParaRPr lang="en-US" altLang="ko-KR" sz="1400" dirty="0"/>
          </a:p>
          <a:p>
            <a:r>
              <a:rPr lang="en-US" altLang="ko-KR" sz="1400" dirty="0"/>
              <a:t>                       </a:t>
            </a:r>
            <a:r>
              <a:rPr lang="ko-KR" altLang="en-US" sz="1400" dirty="0"/>
              <a:t>맞춤 트레이닝 계획 및 권장 기간 투명하게 안내</a:t>
            </a:r>
            <a:br>
              <a:rPr lang="ko-KR" altLang="en-US" sz="1400" dirty="0"/>
            </a:br>
            <a:endParaRPr lang="ko-KR" altLang="en-US" sz="14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4C26DE-1F35-AB71-9C35-0E47127A7755}"/>
              </a:ext>
            </a:extLst>
          </p:cNvPr>
          <p:cNvSpPr/>
          <p:nvPr/>
        </p:nvSpPr>
        <p:spPr>
          <a:xfrm>
            <a:off x="394128" y="2782643"/>
            <a:ext cx="5925990" cy="2945804"/>
          </a:xfrm>
          <a:prstGeom prst="rect">
            <a:avLst/>
          </a:prstGeom>
          <a:solidFill>
            <a:srgbClr val="F8F8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BD25648-A8CB-A2F0-AA3B-A90BA91BB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364" y="2796787"/>
            <a:ext cx="3187272" cy="2917516"/>
          </a:xfrm>
          <a:prstGeom prst="rect">
            <a:avLst/>
          </a:prstGeom>
          <a:solidFill>
            <a:srgbClr val="F8F8F8"/>
          </a:solidFill>
        </p:spPr>
      </p:pic>
    </p:spTree>
    <p:extLst>
      <p:ext uri="{BB962C8B-B14F-4D97-AF65-F5344CB8AC3E}">
        <p14:creationId xmlns:p14="http://schemas.microsoft.com/office/powerpoint/2010/main" val="451318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49569-64DF-BE9E-69D2-3B17B5004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5A43F7A-63C1-D6A9-C2D8-2FB226CAFD6D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88290E0-A990-933F-151F-E847EA1C119E}"/>
              </a:ext>
            </a:extLst>
          </p:cNvPr>
          <p:cNvGraphicFramePr>
            <a:graphicFrameLocks noGrp="1"/>
          </p:cNvGraphicFramePr>
          <p:nvPr/>
        </p:nvGraphicFramePr>
        <p:xfrm>
          <a:off x="187811" y="169429"/>
          <a:ext cx="6482378" cy="95671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397">
                  <a:extLst>
                    <a:ext uri="{9D8B030D-6E8A-4147-A177-3AD203B41FA5}">
                      <a16:colId xmlns:a16="http://schemas.microsoft.com/office/drawing/2014/main" val="3342577325"/>
                    </a:ext>
                  </a:extLst>
                </a:gridCol>
                <a:gridCol w="1109824">
                  <a:extLst>
                    <a:ext uri="{9D8B030D-6E8A-4147-A177-3AD203B41FA5}">
                      <a16:colId xmlns:a16="http://schemas.microsoft.com/office/drawing/2014/main" val="4072212127"/>
                    </a:ext>
                  </a:extLst>
                </a:gridCol>
                <a:gridCol w="4292157">
                  <a:extLst>
                    <a:ext uri="{9D8B030D-6E8A-4147-A177-3AD203B41FA5}">
                      <a16:colId xmlns:a16="http://schemas.microsoft.com/office/drawing/2014/main" val="1987079948"/>
                    </a:ext>
                  </a:extLst>
                </a:gridCol>
              </a:tblGrid>
              <a:tr h="76173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effectLst/>
                        </a:rPr>
                        <a:t>경추</a:t>
                      </a:r>
                      <a:r>
                        <a:rPr lang="ko-KR" altLang="en-US" sz="1400" b="1" dirty="0">
                          <a:effectLst/>
                        </a:rPr>
                        <a:t> 정렬 회복 및 심부 근육 기능 강화를 위한 </a:t>
                      </a:r>
                      <a:r>
                        <a:rPr lang="en-US" altLang="ko-KR" sz="1400" b="1" dirty="0">
                          <a:effectLst/>
                        </a:rPr>
                        <a:t>4</a:t>
                      </a:r>
                      <a:r>
                        <a:rPr lang="ko-KR" altLang="en-US" sz="1400" b="1" dirty="0">
                          <a:effectLst/>
                        </a:rPr>
                        <a:t>단계 프로토콜</a:t>
                      </a:r>
                      <a:endParaRPr lang="ko-KR" altLang="en-US" sz="1200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027280"/>
                  </a:ext>
                </a:extLst>
              </a:tr>
              <a:tr h="129845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chemeClr val="bg1"/>
                          </a:solidFill>
                        </a:rPr>
                        <a:t>기능화복</a:t>
                      </a:r>
                      <a:r>
                        <a:rPr lang="ko-KR" altLang="en-US" sz="1400" dirty="0">
                          <a:solidFill>
                            <a:schemeClr val="bg1"/>
                          </a:solidFill>
                        </a:rPr>
                        <a:t> 솔루션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움직임 및 통증 유발점 정밀 평가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 err="1">
                          <a:effectLst/>
                        </a:rPr>
                        <a:t>경추</a:t>
                      </a:r>
                      <a:r>
                        <a:rPr lang="ko-KR" altLang="en-US" sz="1400" dirty="0">
                          <a:effectLst/>
                        </a:rPr>
                        <a:t> 정렬 상태 및 관절 가동 범위</a:t>
                      </a:r>
                      <a:r>
                        <a:rPr lang="en-US" altLang="ko-KR" sz="1400" dirty="0">
                          <a:effectLst/>
                        </a:rPr>
                        <a:t>(ROM) 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정밀 분석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880312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보상 근육 수기 이완 및 활성화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긴장된 근육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 err="1">
                          <a:effectLst/>
                        </a:rPr>
                        <a:t>승모근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 err="1">
                          <a:effectLst/>
                        </a:rPr>
                        <a:t>흉쇄유돌근</a:t>
                      </a:r>
                      <a:r>
                        <a:rPr lang="ko-KR" altLang="en-US" sz="1400" dirty="0">
                          <a:effectLst/>
                        </a:rPr>
                        <a:t> 등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수기 관리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도수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  <a:r>
                        <a:rPr lang="ko-KR" altLang="en-US" sz="1400" dirty="0">
                          <a:effectLst/>
                        </a:rPr>
                        <a:t>및 스트레칭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제 기능을 잃은 </a:t>
                      </a:r>
                      <a:r>
                        <a:rPr lang="ko-KR" altLang="en-US" sz="1400" dirty="0" err="1">
                          <a:effectLst/>
                        </a:rPr>
                        <a:t>경추</a:t>
                      </a:r>
                      <a:r>
                        <a:rPr lang="ko-KR" altLang="en-US" sz="1400" dirty="0">
                          <a:effectLst/>
                        </a:rPr>
                        <a:t> 심부 근육 활성화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52533"/>
                  </a:ext>
                </a:extLst>
              </a:tr>
              <a:tr h="17799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effectLst/>
                        </a:rPr>
                        <a:t>경추</a:t>
                      </a:r>
                      <a:r>
                        <a:rPr lang="ko-KR" altLang="en-US" sz="1400" dirty="0">
                          <a:effectLst/>
                        </a:rPr>
                        <a:t> 안정화 저항 운동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목의 올바른 </a:t>
                      </a:r>
                      <a:r>
                        <a:rPr lang="en-US" altLang="ko-KR" sz="1400" dirty="0">
                          <a:effectLst/>
                        </a:rPr>
                        <a:t>C</a:t>
                      </a:r>
                      <a:r>
                        <a:rPr lang="ko-KR" altLang="en-US" sz="1400" dirty="0">
                          <a:effectLst/>
                        </a:rPr>
                        <a:t>자 커브 유지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흔들림 없이 머리 무게를 지탱하는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근본적 안정화 훈련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69524"/>
                  </a:ext>
                </a:extLst>
              </a:tr>
              <a:tr h="39469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코어</a:t>
                      </a:r>
                      <a:endParaRPr lang="en-US" altLang="ko-KR" sz="1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상체</a:t>
                      </a:r>
                      <a:endParaRPr lang="en-US" altLang="ko-KR" sz="1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강화 </a:t>
                      </a:r>
                      <a:endParaRPr lang="en-US" altLang="ko-KR" sz="14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bg1"/>
                          </a:solidFill>
                          <a:effectLst/>
                        </a:rPr>
                        <a:t>트레이닝 </a:t>
                      </a:r>
                      <a:endParaRPr lang="ko-KR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4-1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통증 제어 및 가동성 회복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마사지볼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 err="1">
                          <a:effectLst/>
                        </a:rPr>
                        <a:t>폼롤러</a:t>
                      </a:r>
                      <a:r>
                        <a:rPr lang="ko-KR" altLang="en-US" sz="1400" dirty="0">
                          <a:effectLst/>
                        </a:rPr>
                        <a:t> 등 소도구를 활용한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 </a:t>
                      </a:r>
                      <a:r>
                        <a:rPr lang="ko-KR" altLang="en-US" sz="1400" dirty="0" err="1">
                          <a:effectLst/>
                        </a:rPr>
                        <a:t>후두하근</a:t>
                      </a:r>
                      <a:r>
                        <a:rPr lang="ko-KR" altLang="en-US" sz="1400" dirty="0">
                          <a:effectLst/>
                        </a:rPr>
                        <a:t> 및 </a:t>
                      </a:r>
                      <a:r>
                        <a:rPr lang="ko-KR" altLang="en-US" sz="1400" dirty="0" err="1">
                          <a:effectLst/>
                        </a:rPr>
                        <a:t>근막</a:t>
                      </a:r>
                      <a:r>
                        <a:rPr lang="ko-KR" altLang="en-US" sz="1400" dirty="0">
                          <a:effectLst/>
                        </a:rPr>
                        <a:t> 이완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스스로 바른 자세를 유지하는 </a:t>
                      </a:r>
                      <a:endParaRPr lang="en-US" altLang="ko-KR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셀프 케어 솔루션 교육</a:t>
                      </a:r>
                      <a:br>
                        <a:rPr lang="ko-KR" altLang="en-US" sz="1400" b="1" dirty="0">
                          <a:solidFill>
                            <a:srgbClr val="FF0000"/>
                          </a:solidFill>
                        </a:rPr>
                      </a:br>
                      <a:br>
                        <a:rPr lang="ko-KR" altLang="en-US" sz="1400" dirty="0"/>
                      </a:b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4-2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기능 회복</a:t>
                      </a:r>
                      <a:endParaRPr lang="en-US" altLang="ko-KR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effectLst/>
                        </a:rPr>
                        <a:t>튜빙</a:t>
                      </a:r>
                      <a:r>
                        <a:rPr lang="ko-KR" altLang="en-US" sz="1400" dirty="0">
                          <a:effectLst/>
                        </a:rPr>
                        <a:t> 저항 및 맨몸 운동 진행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목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어깨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등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견갑골</a:t>
                      </a:r>
                      <a:r>
                        <a:rPr lang="en-US" altLang="ko-KR" sz="1400" dirty="0">
                          <a:effectLst/>
                        </a:rPr>
                        <a:t>)</a:t>
                      </a:r>
                      <a:r>
                        <a:rPr lang="ko-KR" altLang="en-US" sz="1400" dirty="0">
                          <a:effectLst/>
                        </a:rPr>
                        <a:t>의 유기적인 </a:t>
                      </a:r>
                      <a:r>
                        <a:rPr lang="ko-KR" altLang="en-US" sz="1400" dirty="0" err="1">
                          <a:effectLst/>
                        </a:rPr>
                        <a:t>협응력</a:t>
                      </a:r>
                      <a:r>
                        <a:rPr lang="ko-KR" altLang="en-US" sz="1400" dirty="0">
                          <a:effectLst/>
                        </a:rPr>
                        <a:t> 향상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4-3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b="1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effectLst/>
                        </a:rPr>
                        <a:t>근력 향상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안정성 확보 후 본격적인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상체 웨이트 트레이닝 돌입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바른 체형을 유지하는 탄탄한 근력 형성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131837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AD8A96C-951E-DB3D-1F6F-2C877518D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175101"/>
              </p:ext>
            </p:extLst>
          </p:nvPr>
        </p:nvGraphicFramePr>
        <p:xfrm>
          <a:off x="187810" y="169429"/>
          <a:ext cx="6482378" cy="96316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397">
                  <a:extLst>
                    <a:ext uri="{9D8B030D-6E8A-4147-A177-3AD203B41FA5}">
                      <a16:colId xmlns:a16="http://schemas.microsoft.com/office/drawing/2014/main" val="3342577325"/>
                    </a:ext>
                  </a:extLst>
                </a:gridCol>
                <a:gridCol w="848843">
                  <a:extLst>
                    <a:ext uri="{9D8B030D-6E8A-4147-A177-3AD203B41FA5}">
                      <a16:colId xmlns:a16="http://schemas.microsoft.com/office/drawing/2014/main" val="4072212127"/>
                    </a:ext>
                  </a:extLst>
                </a:gridCol>
                <a:gridCol w="4553138">
                  <a:extLst>
                    <a:ext uri="{9D8B030D-6E8A-4147-A177-3AD203B41FA5}">
                      <a16:colId xmlns:a16="http://schemas.microsoft.com/office/drawing/2014/main" val="1987079948"/>
                    </a:ext>
                  </a:extLst>
                </a:gridCol>
              </a:tblGrid>
              <a:tr h="760944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발목 재활 트레이닝 솔루션</a:t>
                      </a:r>
                      <a:endParaRPr lang="ko-KR" altLang="en-US" sz="1400" b="1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9027280"/>
                  </a:ext>
                </a:extLst>
              </a:tr>
              <a:tr h="130708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bg1"/>
                          </a:solidFill>
                        </a:rPr>
                        <a:t>기능화복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</a:rPr>
                        <a:t> 솔루션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움직임 및 통증 유발점 정밀 평가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발목 가동 범위</a:t>
                      </a:r>
                      <a:r>
                        <a:rPr lang="en-US" altLang="ko-KR" sz="1400" dirty="0">
                          <a:effectLst/>
                        </a:rPr>
                        <a:t>(ROM), </a:t>
                      </a:r>
                      <a:r>
                        <a:rPr lang="ko-KR" altLang="en-US" sz="1400" dirty="0">
                          <a:effectLst/>
                        </a:rPr>
                        <a:t>아치 붕괴 여부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체중 지지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effectLst/>
                        </a:rPr>
                        <a:t>불균형 분석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통증 및 불안정성이 나타나는 근본 원인 확인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880312"/>
                  </a:ext>
                </a:extLst>
              </a:tr>
              <a:tr h="17781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effectLst/>
                        </a:rPr>
                        <a:t>하퇴부</a:t>
                      </a:r>
                      <a:r>
                        <a:rPr lang="ko-KR" altLang="en-US" sz="1400" dirty="0">
                          <a:effectLst/>
                        </a:rPr>
                        <a:t> 수기 이완 및 활성화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종아리</a:t>
                      </a:r>
                      <a:r>
                        <a:rPr lang="en-US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정강이 주변 근육 수기 관리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>
                          <a:effectLst/>
                        </a:rPr>
                        <a:t>도수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  <a:r>
                        <a:rPr lang="ko-KR" altLang="en-US" sz="1400" dirty="0">
                          <a:effectLst/>
                        </a:rPr>
                        <a:t>및 스트레칭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발바닥 </a:t>
                      </a:r>
                      <a:r>
                        <a:rPr lang="ko-KR" altLang="en-US" sz="1400" dirty="0" err="1">
                          <a:effectLst/>
                        </a:rPr>
                        <a:t>내재근</a:t>
                      </a:r>
                      <a:r>
                        <a:rPr lang="ko-KR" altLang="en-US" sz="1400" dirty="0">
                          <a:effectLst/>
                        </a:rPr>
                        <a:t> 및 발목 안정성 담당 근육 활성화</a:t>
                      </a:r>
                      <a:br>
                        <a:rPr lang="ko-KR" altLang="en-US" sz="1400" dirty="0"/>
                      </a:b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52533"/>
                  </a:ext>
                </a:extLst>
              </a:tr>
              <a:tr h="17781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발목 안정화 및 밸런스 트레이닝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지면 반발력의 올바른 사용법 인지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고유수용성 감각 및 밸런스 저항 운동을 통한 중심 잡기</a:t>
                      </a:r>
                      <a:endParaRPr lang="en-US" altLang="ko-KR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369524"/>
                  </a:ext>
                </a:extLst>
              </a:tr>
              <a:tr h="3942833">
                <a:tc>
                  <a:txBody>
                    <a:bodyPr/>
                    <a:lstStyle/>
                    <a:p>
                      <a:pPr algn="ctr" latinLnBrk="1"/>
                      <a:endParaRPr lang="en-US" altLang="ko-KR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</a:rPr>
                        <a:t>강화 </a:t>
                      </a:r>
                      <a:endParaRPr lang="en-US" altLang="ko-KR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effectLst/>
                        </a:rPr>
                        <a:t>트레이닝 </a:t>
                      </a:r>
                      <a:endParaRPr lang="ko-KR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단계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effectLst/>
                        </a:rPr>
                        <a:t>4-1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effectLst/>
                        </a:rPr>
                        <a:t>통증 제어 및 가동성 회복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마사지볼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진동 소도구 활용 </a:t>
                      </a:r>
                      <a:r>
                        <a:rPr lang="ko-KR" altLang="en-US" sz="1400" dirty="0" err="1">
                          <a:effectLst/>
                        </a:rPr>
                        <a:t>족저근막</a:t>
                      </a:r>
                      <a:r>
                        <a:rPr lang="ko-KR" altLang="en-US" sz="1400" dirty="0">
                          <a:effectLst/>
                        </a:rPr>
                        <a:t> 및 </a:t>
                      </a:r>
                      <a:endParaRPr lang="en-US" altLang="ko-KR" sz="1400" dirty="0"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effectLst/>
                        </a:rPr>
                        <a:t>하퇴부</a:t>
                      </a:r>
                      <a:r>
                        <a:rPr lang="ko-KR" altLang="en-US" sz="1400" dirty="0">
                          <a:effectLst/>
                        </a:rPr>
                        <a:t> 이완 부상 방지를 위한 셀프 케어 솔루션 교육</a:t>
                      </a:r>
                      <a:br>
                        <a:rPr lang="ko-KR" altLang="en-US" sz="1400" dirty="0"/>
                      </a:br>
                      <a:br>
                        <a:rPr lang="ko-KR" altLang="en-US" sz="1400" dirty="0"/>
                      </a:br>
                      <a:r>
                        <a:rPr lang="en-US" altLang="ko-KR" sz="1400" dirty="0">
                          <a:solidFill>
                            <a:srgbClr val="FF0000"/>
                          </a:solidFill>
                          <a:effectLst/>
                        </a:rPr>
                        <a:t>4-2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effectLst/>
                        </a:rPr>
                        <a:t>기능 회복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 err="1">
                          <a:effectLst/>
                        </a:rPr>
                        <a:t>튜빙</a:t>
                      </a:r>
                      <a:r>
                        <a:rPr lang="ko-KR" altLang="en-US" sz="1400" dirty="0">
                          <a:effectLst/>
                        </a:rPr>
                        <a:t> 밴드 및 한 발 서기</a:t>
                      </a:r>
                      <a:r>
                        <a:rPr lang="en-US" altLang="ko-KR" sz="1400" dirty="0">
                          <a:effectLst/>
                        </a:rPr>
                        <a:t>(Single leg) </a:t>
                      </a:r>
                      <a:r>
                        <a:rPr lang="ko-KR" altLang="en-US" sz="1400" dirty="0">
                          <a:effectLst/>
                        </a:rPr>
                        <a:t>밸런스 훈련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발목 주변 인대와 근육의 </a:t>
                      </a:r>
                      <a:r>
                        <a:rPr lang="ko-KR" altLang="en-US" sz="1400" dirty="0" err="1">
                          <a:effectLst/>
                        </a:rPr>
                        <a:t>협응력</a:t>
                      </a:r>
                      <a:r>
                        <a:rPr lang="ko-KR" altLang="en-US" sz="1400" dirty="0">
                          <a:effectLst/>
                        </a:rPr>
                        <a:t> 집중 강화</a:t>
                      </a:r>
                      <a:br>
                        <a:rPr lang="ko-KR" altLang="en-US" sz="1400" dirty="0"/>
                      </a:b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effectLst/>
                        </a:rPr>
                        <a:t>4-3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effectLst/>
                        </a:rPr>
                        <a:t>단계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effectLst/>
                        </a:rPr>
                        <a:t>근력 향상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안정성이 확보된 상태에서 하체 웨이트 트레이닝 돌입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>
                          <a:effectLst/>
                        </a:rPr>
                        <a:t>전신을 견고하게 지탱하는 하체 근력 형성</a:t>
                      </a:r>
                      <a:endParaRPr lang="ko-KR" altLang="en-US" sz="1400" dirty="0"/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131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5727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1927</TotalTime>
  <Words>2073</Words>
  <Application>Microsoft Office PowerPoint</Application>
  <PresentationFormat>A4 용지(210x297mm)</PresentationFormat>
  <Paragraphs>220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seungki lee</dc:creator>
  <cp:lastModifiedBy>seungki lee</cp:lastModifiedBy>
  <cp:revision>6</cp:revision>
  <dcterms:created xsi:type="dcterms:W3CDTF">2026-03-25T04:17:22Z</dcterms:created>
  <dcterms:modified xsi:type="dcterms:W3CDTF">2026-04-06T08:29:07Z</dcterms:modified>
</cp:coreProperties>
</file>