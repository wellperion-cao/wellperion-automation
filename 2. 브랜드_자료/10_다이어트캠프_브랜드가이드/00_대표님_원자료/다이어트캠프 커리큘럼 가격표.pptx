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63" r:id="rId2"/>
    <p:sldId id="264" r:id="rId3"/>
    <p:sldId id="265" r:id="rId4"/>
    <p:sldId id="273" r:id="rId5"/>
    <p:sldId id="274" r:id="rId6"/>
    <p:sldId id="275" r:id="rId7"/>
  </p:sldIdLst>
  <p:sldSz cx="6858000" cy="9906000" type="A4"/>
  <p:notesSz cx="6875463" cy="100028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B66F"/>
    <a:srgbClr val="E7EEF1"/>
    <a:srgbClr val="1699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37" autoAdjust="0"/>
    <p:restoredTop sz="94660"/>
  </p:normalViewPr>
  <p:slideViewPr>
    <p:cSldViewPr snapToGrid="0">
      <p:cViewPr varScale="1">
        <p:scale>
          <a:sx n="68" d="100"/>
          <a:sy n="68" d="100"/>
        </p:scale>
        <p:origin x="504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9738" cy="501650"/>
          </a:xfrm>
          <a:prstGeom prst="rect">
            <a:avLst/>
          </a:prstGeom>
        </p:spPr>
        <p:txBody>
          <a:bodyPr vert="horz" lIns="91425" tIns="45712" rIns="91425" bIns="45712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94139" y="0"/>
            <a:ext cx="2979737" cy="501650"/>
          </a:xfrm>
          <a:prstGeom prst="rect">
            <a:avLst/>
          </a:prstGeom>
        </p:spPr>
        <p:txBody>
          <a:bodyPr vert="horz" lIns="91425" tIns="45712" rIns="91425" bIns="45712" rtlCol="0"/>
          <a:lstStyle>
            <a:lvl1pPr algn="r">
              <a:defRPr sz="1200"/>
            </a:lvl1pPr>
          </a:lstStyle>
          <a:p>
            <a:fld id="{AB84356D-DC29-461C-A1CC-DB856205572E}" type="datetimeFigureOut">
              <a:rPr lang="ko-KR" altLang="en-US" smtClean="0"/>
              <a:t>2026-08-31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70125" y="1250950"/>
            <a:ext cx="2335213" cy="3375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5" tIns="45712" rIns="91425" bIns="45712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7389" y="4813300"/>
            <a:ext cx="5500687" cy="3938588"/>
          </a:xfrm>
          <a:prstGeom prst="rect">
            <a:avLst/>
          </a:prstGeom>
        </p:spPr>
        <p:txBody>
          <a:bodyPr vert="horz" lIns="91425" tIns="45712" rIns="91425" bIns="45712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01188"/>
            <a:ext cx="2979738" cy="501650"/>
          </a:xfrm>
          <a:prstGeom prst="rect">
            <a:avLst/>
          </a:prstGeom>
        </p:spPr>
        <p:txBody>
          <a:bodyPr vert="horz" lIns="91425" tIns="45712" rIns="91425" bIns="45712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94139" y="9501188"/>
            <a:ext cx="2979737" cy="501650"/>
          </a:xfrm>
          <a:prstGeom prst="rect">
            <a:avLst/>
          </a:prstGeom>
        </p:spPr>
        <p:txBody>
          <a:bodyPr vert="horz" lIns="91425" tIns="45712" rIns="91425" bIns="45712" rtlCol="0" anchor="b"/>
          <a:lstStyle>
            <a:lvl1pPr algn="r">
              <a:defRPr sz="1200"/>
            </a:lvl1pPr>
          </a:lstStyle>
          <a:p>
            <a:fld id="{1087338A-6112-4BA3-8D34-B680BE205DB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2893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ABB3-E8AB-452B-8B3F-CC2C3468D611}" type="datetimeFigureOut">
              <a:rPr lang="ko-KR" altLang="en-US" smtClean="0"/>
              <a:t>2026-08-31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AD26-077F-4E4F-85E7-4A985F19021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1787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ABB3-E8AB-452B-8B3F-CC2C3468D611}" type="datetimeFigureOut">
              <a:rPr lang="ko-KR" altLang="en-US" smtClean="0"/>
              <a:t>2026-08-31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AD26-077F-4E4F-85E7-4A985F19021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9983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ABB3-E8AB-452B-8B3F-CC2C3468D611}" type="datetimeFigureOut">
              <a:rPr lang="ko-KR" altLang="en-US" smtClean="0"/>
              <a:t>2026-08-31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AD26-077F-4E4F-85E7-4A985F19021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1839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ABB3-E8AB-452B-8B3F-CC2C3468D611}" type="datetimeFigureOut">
              <a:rPr lang="ko-KR" altLang="en-US" smtClean="0"/>
              <a:t>2026-08-31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AD26-077F-4E4F-85E7-4A985F19021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2411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ABB3-E8AB-452B-8B3F-CC2C3468D611}" type="datetimeFigureOut">
              <a:rPr lang="ko-KR" altLang="en-US" smtClean="0"/>
              <a:t>2026-08-31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AD26-077F-4E4F-85E7-4A985F19021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3814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ABB3-E8AB-452B-8B3F-CC2C3468D611}" type="datetimeFigureOut">
              <a:rPr lang="ko-KR" altLang="en-US" smtClean="0"/>
              <a:t>2026-08-31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AD26-077F-4E4F-85E7-4A985F19021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3549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ABB3-E8AB-452B-8B3F-CC2C3468D611}" type="datetimeFigureOut">
              <a:rPr lang="ko-KR" altLang="en-US" smtClean="0"/>
              <a:t>2026-08-31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AD26-077F-4E4F-85E7-4A985F19021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6309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ABB3-E8AB-452B-8B3F-CC2C3468D611}" type="datetimeFigureOut">
              <a:rPr lang="ko-KR" altLang="en-US" smtClean="0"/>
              <a:t>2026-08-31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AD26-077F-4E4F-85E7-4A985F19021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0410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ABB3-E8AB-452B-8B3F-CC2C3468D611}" type="datetimeFigureOut">
              <a:rPr lang="ko-KR" altLang="en-US" smtClean="0"/>
              <a:t>2026-08-31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AD26-077F-4E4F-85E7-4A985F19021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9836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ABB3-E8AB-452B-8B3F-CC2C3468D611}" type="datetimeFigureOut">
              <a:rPr lang="ko-KR" altLang="en-US" smtClean="0"/>
              <a:t>2026-08-31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AD26-077F-4E4F-85E7-4A985F19021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5801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ABB3-E8AB-452B-8B3F-CC2C3468D611}" type="datetimeFigureOut">
              <a:rPr lang="ko-KR" altLang="en-US" smtClean="0"/>
              <a:t>2026-08-31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AD26-077F-4E4F-85E7-4A985F19021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3227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5AABB3-E8AB-452B-8B3F-CC2C3468D611}" type="datetimeFigureOut">
              <a:rPr lang="ko-KR" altLang="en-US" smtClean="0"/>
              <a:t>2026-08-31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0EAD26-077F-4E4F-85E7-4A985F19021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9741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19C42-E88F-8329-69C5-8D36081EA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E37299A5-99F0-A7F9-8A2F-704B42472A97}"/>
              </a:ext>
            </a:extLst>
          </p:cNvPr>
          <p:cNvSpPr/>
          <p:nvPr/>
        </p:nvSpPr>
        <p:spPr>
          <a:xfrm>
            <a:off x="0" y="0"/>
            <a:ext cx="6857999" cy="990599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83A6414-D1A7-284B-A3EF-9B9CD475BF38}"/>
              </a:ext>
            </a:extLst>
          </p:cNvPr>
          <p:cNvGraphicFramePr>
            <a:graphicFrameLocks noGrp="1"/>
          </p:cNvGraphicFramePr>
          <p:nvPr/>
        </p:nvGraphicFramePr>
        <p:xfrm>
          <a:off x="243349" y="233516"/>
          <a:ext cx="6371302" cy="9438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1302">
                  <a:extLst>
                    <a:ext uri="{9D8B030D-6E8A-4147-A177-3AD203B41FA5}">
                      <a16:colId xmlns:a16="http://schemas.microsoft.com/office/drawing/2014/main" val="1819485311"/>
                    </a:ext>
                  </a:extLst>
                </a:gridCol>
              </a:tblGrid>
              <a:tr h="9438968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215089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D0A1CF5-42F5-B8A7-62FF-EDB6A3E21131}"/>
              </a:ext>
            </a:extLst>
          </p:cNvPr>
          <p:cNvGraphicFramePr>
            <a:graphicFrameLocks noGrp="1"/>
          </p:cNvGraphicFramePr>
          <p:nvPr/>
        </p:nvGraphicFramePr>
        <p:xfrm>
          <a:off x="382228" y="378541"/>
          <a:ext cx="6093541" cy="9148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3541">
                  <a:extLst>
                    <a:ext uri="{9D8B030D-6E8A-4147-A177-3AD203B41FA5}">
                      <a16:colId xmlns:a16="http://schemas.microsoft.com/office/drawing/2014/main" val="1819485311"/>
                    </a:ext>
                  </a:extLst>
                </a:gridCol>
              </a:tblGrid>
              <a:tr h="9148916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0"/>
                      </a:blip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81321508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0DB33FBD-1730-C7D8-61B5-90F2536C1266}"/>
              </a:ext>
            </a:extLst>
          </p:cNvPr>
          <p:cNvSpPr txBox="1"/>
          <p:nvPr/>
        </p:nvSpPr>
        <p:spPr>
          <a:xfrm>
            <a:off x="597133" y="805385"/>
            <a:ext cx="56637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vie" panose="04040805050809020602" pitchFamily="82" charset="0"/>
                <a:ea typeface="STXingkai" panose="02010800040101010101" pitchFamily="2" charset="-122"/>
                <a:cs typeface="BrowalliaUPC" panose="020B0502040204020203" pitchFamily="34" charset="-34"/>
              </a:rPr>
              <a:t>DIET CAMP &amp; PT</a:t>
            </a:r>
            <a:endParaRPr lang="ko-KR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avie" panose="04040805050809020602" pitchFamily="82" charset="0"/>
              <a:cs typeface="BrowalliaUPC" panose="020B0502040204020203" pitchFamily="34" charset="-34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53448EA-6BE1-84F6-4B4D-82B431C01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568895"/>
              </p:ext>
            </p:extLst>
          </p:nvPr>
        </p:nvGraphicFramePr>
        <p:xfrm>
          <a:off x="434461" y="1658296"/>
          <a:ext cx="5989074" cy="7793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208">
                  <a:extLst>
                    <a:ext uri="{9D8B030D-6E8A-4147-A177-3AD203B41FA5}">
                      <a16:colId xmlns:a16="http://schemas.microsoft.com/office/drawing/2014/main" val="257224094"/>
                    </a:ext>
                  </a:extLst>
                </a:gridCol>
                <a:gridCol w="1772370">
                  <a:extLst>
                    <a:ext uri="{9D8B030D-6E8A-4147-A177-3AD203B41FA5}">
                      <a16:colId xmlns:a16="http://schemas.microsoft.com/office/drawing/2014/main" val="343792678"/>
                    </a:ext>
                  </a:extLst>
                </a:gridCol>
                <a:gridCol w="2438496">
                  <a:extLst>
                    <a:ext uri="{9D8B030D-6E8A-4147-A177-3AD203B41FA5}">
                      <a16:colId xmlns:a16="http://schemas.microsoft.com/office/drawing/2014/main" val="1843445121"/>
                    </a:ext>
                  </a:extLst>
                </a:gridCol>
              </a:tblGrid>
              <a:tr h="316758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프로그램 소개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062150"/>
                  </a:ext>
                </a:extLst>
              </a:tr>
              <a:tr h="33249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다이어트캠프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PT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1567998"/>
                  </a:ext>
                </a:extLst>
              </a:tr>
              <a:tr h="84317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30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가지 다양한 소도구</a:t>
                      </a:r>
                      <a:endParaRPr lang="en-US" altLang="ko-KR" sz="1600" dirty="0">
                        <a:solidFill>
                          <a:schemeClr val="bg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매일 새로운 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300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가지 이상의 프로그램</a:t>
                      </a:r>
                      <a:endParaRPr lang="en-US" altLang="ko-KR" sz="1600" dirty="0">
                        <a:solidFill>
                          <a:schemeClr val="bg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스토리가 있는 수업구성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1537713"/>
                  </a:ext>
                </a:extLst>
              </a:tr>
              <a:tr h="3324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다이어트캠프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힐링캠프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90344"/>
                  </a:ext>
                </a:extLst>
              </a:tr>
              <a:tr h="2907649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5368148"/>
                  </a:ext>
                </a:extLst>
              </a:tr>
              <a:tr h="3055416"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특장점</a:t>
                      </a:r>
                      <a:endParaRPr lang="en-US" altLang="ko-KR" sz="1800" b="1" dirty="0">
                        <a:solidFill>
                          <a:schemeClr val="bg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dirty="0">
                        <a:solidFill>
                          <a:schemeClr val="bg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algn="ctr" latinLnBrk="1"/>
                      <a:r>
                        <a:rPr lang="ko-KR" altLang="en-US" sz="1800" b="1" dirty="0">
                          <a:solidFill>
                            <a:srgbClr val="FFFF00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기능성 운동 맛집 건강한 움직임 설계</a:t>
                      </a:r>
                      <a:endParaRPr lang="en-US" altLang="ko-KR" sz="1800" b="1" dirty="0">
                        <a:solidFill>
                          <a:srgbClr val="FFFF00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algn="ctr"/>
                      <a:r>
                        <a:rPr lang="en-US" altLang="ko-KR" sz="800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  </a:t>
                      </a:r>
                    </a:p>
                    <a:p>
                      <a:pPr algn="ctr"/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더 이상 무거운 머신 들과 싸우듯 운동하지 맙시다</a:t>
                      </a: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.</a:t>
                      </a:r>
                    </a:p>
                    <a:p>
                      <a:pPr algn="ctr"/>
                      <a:endParaRPr lang="en-US" altLang="ko-KR" sz="800" dirty="0">
                        <a:solidFill>
                          <a:schemeClr val="bg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algn="ctr"/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다양한 소도구를 이용한 매회 다르게 </a:t>
                      </a:r>
                      <a:endParaRPr lang="en-US" altLang="ko-KR" sz="1400" dirty="0">
                        <a:solidFill>
                          <a:schemeClr val="bg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algn="ctr"/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진행되는 프로그램</a:t>
                      </a:r>
                      <a:endParaRPr lang="en-US" altLang="ko-KR" sz="1400" dirty="0">
                        <a:solidFill>
                          <a:schemeClr val="bg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algn="ctr"/>
                      <a:endParaRPr lang="en-US" altLang="ko-KR" sz="800" dirty="0">
                        <a:solidFill>
                          <a:schemeClr val="bg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algn="ctr"/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관절에 무리를 주지 않는  안전하고 섬세하게 </a:t>
                      </a:r>
                      <a:endParaRPr lang="en-US" altLang="ko-KR" sz="1400" dirty="0">
                        <a:solidFill>
                          <a:schemeClr val="bg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algn="ctr"/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진행되는 트레이닝으로 운동 목적 달성 </a:t>
                      </a:r>
                      <a:endParaRPr lang="en-US" altLang="ko-KR" sz="1400" dirty="0">
                        <a:solidFill>
                          <a:schemeClr val="bg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algn="ctr"/>
                      <a:endParaRPr lang="en-US" altLang="ko-KR" sz="800" dirty="0">
                        <a:solidFill>
                          <a:schemeClr val="bg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algn="ctr"/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한번도 경험하지 못한 </a:t>
                      </a:r>
                      <a:endParaRPr lang="en-US" altLang="ko-KR" sz="1400" dirty="0">
                        <a:solidFill>
                          <a:schemeClr val="bg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algn="ctr"/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기발한 트레이닝을 선사합니다</a:t>
                      </a: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.</a:t>
                      </a:r>
                      <a:endParaRPr lang="en-US" altLang="ko-KR" sz="1200" dirty="0">
                        <a:solidFill>
                          <a:schemeClr val="bg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995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868095"/>
                  </a:ext>
                </a:extLst>
              </a:tr>
            </a:tbl>
          </a:graphicData>
        </a:graphic>
      </p:graphicFrame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A4B1E3F-1A8E-84AB-03ED-4A7ADB0D0A3B}"/>
              </a:ext>
            </a:extLst>
          </p:cNvPr>
          <p:cNvSpPr/>
          <p:nvPr/>
        </p:nvSpPr>
        <p:spPr>
          <a:xfrm>
            <a:off x="626630" y="3667216"/>
            <a:ext cx="1371630" cy="33682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체력 향상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E92835E-EF07-D4B8-43C8-15D70DC9E12A}"/>
              </a:ext>
            </a:extLst>
          </p:cNvPr>
          <p:cNvSpPr/>
          <p:nvPr/>
        </p:nvSpPr>
        <p:spPr>
          <a:xfrm>
            <a:off x="626629" y="4211238"/>
            <a:ext cx="1371630" cy="33682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근력 증가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C727644-D893-83A8-683D-1B690B9CC27D}"/>
              </a:ext>
            </a:extLst>
          </p:cNvPr>
          <p:cNvSpPr/>
          <p:nvPr/>
        </p:nvSpPr>
        <p:spPr>
          <a:xfrm>
            <a:off x="626629" y="4755260"/>
            <a:ext cx="1371630" cy="33682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체지방 감소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B209708-746F-1149-C42F-30100293ADE3}"/>
              </a:ext>
            </a:extLst>
          </p:cNvPr>
          <p:cNvSpPr/>
          <p:nvPr/>
        </p:nvSpPr>
        <p:spPr>
          <a:xfrm>
            <a:off x="626629" y="5299282"/>
            <a:ext cx="1371630" cy="33682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근육 증가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F24F651-9CFD-32F0-A50B-973127A7B7EA}"/>
              </a:ext>
            </a:extLst>
          </p:cNvPr>
          <p:cNvSpPr/>
          <p:nvPr/>
        </p:nvSpPr>
        <p:spPr>
          <a:xfrm>
            <a:off x="626629" y="5821018"/>
            <a:ext cx="1371630" cy="33682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자세 교정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E4C5276-E839-4D7F-A71F-7CE52535DB7D}"/>
              </a:ext>
            </a:extLst>
          </p:cNvPr>
          <p:cNvSpPr/>
          <p:nvPr/>
        </p:nvSpPr>
        <p:spPr>
          <a:xfrm>
            <a:off x="2396960" y="3589881"/>
            <a:ext cx="1371630" cy="33682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라인 정렬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7DE86E6-CED6-4BD8-6A09-8EE327D5D134}"/>
              </a:ext>
            </a:extLst>
          </p:cNvPr>
          <p:cNvSpPr/>
          <p:nvPr/>
        </p:nvSpPr>
        <p:spPr>
          <a:xfrm>
            <a:off x="2396959" y="4058658"/>
            <a:ext cx="1371630" cy="33682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밸런스 강화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63027AD-5DFA-A679-6E05-76DED43A807F}"/>
              </a:ext>
            </a:extLst>
          </p:cNvPr>
          <p:cNvSpPr/>
          <p:nvPr/>
        </p:nvSpPr>
        <p:spPr>
          <a:xfrm>
            <a:off x="2396959" y="4527435"/>
            <a:ext cx="1371630" cy="33682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유연성 향상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B6C183F-A84B-D062-8C31-B3EF0B1643FA}"/>
              </a:ext>
            </a:extLst>
          </p:cNvPr>
          <p:cNvSpPr/>
          <p:nvPr/>
        </p:nvSpPr>
        <p:spPr>
          <a:xfrm>
            <a:off x="2396959" y="4996212"/>
            <a:ext cx="1371630" cy="33682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통증 완화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47F3ABC0-C136-2D54-B49A-3FEC8FB3FC65}"/>
              </a:ext>
            </a:extLst>
          </p:cNvPr>
          <p:cNvSpPr/>
          <p:nvPr/>
        </p:nvSpPr>
        <p:spPr>
          <a:xfrm>
            <a:off x="2396959" y="5464989"/>
            <a:ext cx="1371630" cy="33682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셀프 마사지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BE8C3133-80A9-5B43-C1AC-BE9C377ABE8B}"/>
              </a:ext>
            </a:extLst>
          </p:cNvPr>
          <p:cNvSpPr/>
          <p:nvPr/>
        </p:nvSpPr>
        <p:spPr>
          <a:xfrm>
            <a:off x="2396959" y="5933766"/>
            <a:ext cx="1371630" cy="33682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운동 리커버리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01E462BF-73D6-6C29-7C3E-968072E74DCB}"/>
              </a:ext>
            </a:extLst>
          </p:cNvPr>
          <p:cNvSpPr/>
          <p:nvPr/>
        </p:nvSpPr>
        <p:spPr>
          <a:xfrm>
            <a:off x="4439938" y="2459673"/>
            <a:ext cx="1577981" cy="45138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다이어트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7176EEEF-92E0-CB6F-C493-FE551FB3CDC8}"/>
              </a:ext>
            </a:extLst>
          </p:cNvPr>
          <p:cNvSpPr/>
          <p:nvPr/>
        </p:nvSpPr>
        <p:spPr>
          <a:xfrm>
            <a:off x="4439938" y="3120438"/>
            <a:ext cx="1577981" cy="45138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바디 프로필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6364644D-62C8-E128-B15F-57E1113C7727}"/>
              </a:ext>
            </a:extLst>
          </p:cNvPr>
          <p:cNvSpPr/>
          <p:nvPr/>
        </p:nvSpPr>
        <p:spPr>
          <a:xfrm>
            <a:off x="4439938" y="3781203"/>
            <a:ext cx="1577981" cy="45138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재활 트레이닝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369D5EC9-267E-6A95-0322-6D9E7C8670AF}"/>
              </a:ext>
            </a:extLst>
          </p:cNvPr>
          <p:cNvSpPr/>
          <p:nvPr/>
        </p:nvSpPr>
        <p:spPr>
          <a:xfrm>
            <a:off x="4439938" y="4441968"/>
            <a:ext cx="1577981" cy="45138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골프 트레이닝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475C51C-7CD2-7A5F-26E6-D31E954B383A}"/>
              </a:ext>
            </a:extLst>
          </p:cNvPr>
          <p:cNvSpPr/>
          <p:nvPr/>
        </p:nvSpPr>
        <p:spPr>
          <a:xfrm>
            <a:off x="4439938" y="5108465"/>
            <a:ext cx="1577981" cy="45138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펑셔널 트레이닝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152290B4-D6BC-4145-BA16-62EEAF38DBA0}"/>
              </a:ext>
            </a:extLst>
          </p:cNvPr>
          <p:cNvSpPr/>
          <p:nvPr/>
        </p:nvSpPr>
        <p:spPr>
          <a:xfrm>
            <a:off x="4425755" y="5774962"/>
            <a:ext cx="1577981" cy="45138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애플힙 </a:t>
            </a:r>
            <a:endParaRPr lang="en-US" altLang="ko-KR" sz="1400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집중 트레이닝</a:t>
            </a:r>
          </a:p>
        </p:txBody>
      </p:sp>
    </p:spTree>
    <p:extLst>
      <p:ext uri="{BB962C8B-B14F-4D97-AF65-F5344CB8AC3E}">
        <p14:creationId xmlns:p14="http://schemas.microsoft.com/office/powerpoint/2010/main" val="3713954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6FC8E-6ECC-E11A-7D2C-C3CC1AACC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E2FA870-E677-DE21-5230-A8BCDEC0330C}"/>
              </a:ext>
            </a:extLst>
          </p:cNvPr>
          <p:cNvSpPr/>
          <p:nvPr/>
        </p:nvSpPr>
        <p:spPr>
          <a:xfrm>
            <a:off x="0" y="0"/>
            <a:ext cx="6857999" cy="990599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C68CF7D-AC3B-FF7A-6AFF-4017E08CE442}"/>
              </a:ext>
            </a:extLst>
          </p:cNvPr>
          <p:cNvGraphicFramePr>
            <a:graphicFrameLocks noGrp="1"/>
          </p:cNvGraphicFramePr>
          <p:nvPr/>
        </p:nvGraphicFramePr>
        <p:xfrm>
          <a:off x="243349" y="233516"/>
          <a:ext cx="6371302" cy="9438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1302">
                  <a:extLst>
                    <a:ext uri="{9D8B030D-6E8A-4147-A177-3AD203B41FA5}">
                      <a16:colId xmlns:a16="http://schemas.microsoft.com/office/drawing/2014/main" val="1819485311"/>
                    </a:ext>
                  </a:extLst>
                </a:gridCol>
              </a:tblGrid>
              <a:tr h="9438968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215089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8064DAC-F52A-F8DC-78FA-B183F26E81D5}"/>
              </a:ext>
            </a:extLst>
          </p:cNvPr>
          <p:cNvGraphicFramePr>
            <a:graphicFrameLocks noGrp="1"/>
          </p:cNvGraphicFramePr>
          <p:nvPr/>
        </p:nvGraphicFramePr>
        <p:xfrm>
          <a:off x="382228" y="378541"/>
          <a:ext cx="6093541" cy="9148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3541">
                  <a:extLst>
                    <a:ext uri="{9D8B030D-6E8A-4147-A177-3AD203B41FA5}">
                      <a16:colId xmlns:a16="http://schemas.microsoft.com/office/drawing/2014/main" val="1819485311"/>
                    </a:ext>
                  </a:extLst>
                </a:gridCol>
              </a:tblGrid>
              <a:tr h="9148916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0"/>
                      </a:blip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81321508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0E84D8C-9CA8-9882-CB4D-B0AC00D95C67}"/>
              </a:ext>
            </a:extLst>
          </p:cNvPr>
          <p:cNvSpPr txBox="1"/>
          <p:nvPr/>
        </p:nvSpPr>
        <p:spPr>
          <a:xfrm>
            <a:off x="597133" y="805385"/>
            <a:ext cx="56637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vie" panose="04040805050809020602" pitchFamily="82" charset="0"/>
                <a:ea typeface="STXingkai" panose="02010800040101010101" pitchFamily="2" charset="-122"/>
                <a:cs typeface="BrowalliaUPC" panose="020B0502040204020203" pitchFamily="34" charset="-34"/>
              </a:rPr>
              <a:t>DIET CAMP &amp; PT</a:t>
            </a:r>
            <a:endParaRPr lang="ko-KR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avie" panose="04040805050809020602" pitchFamily="82" charset="0"/>
              <a:cs typeface="BrowalliaUPC" panose="020B0502040204020203" pitchFamily="34" charset="-34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48D5583-9BCA-B20B-BCEF-97957E742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230569"/>
              </p:ext>
            </p:extLst>
          </p:nvPr>
        </p:nvGraphicFramePr>
        <p:xfrm>
          <a:off x="597133" y="1610554"/>
          <a:ext cx="5663730" cy="78726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06123">
                  <a:extLst>
                    <a:ext uri="{9D8B030D-6E8A-4147-A177-3AD203B41FA5}">
                      <a16:colId xmlns:a16="http://schemas.microsoft.com/office/drawing/2014/main" val="3710119254"/>
                    </a:ext>
                  </a:extLst>
                </a:gridCol>
                <a:gridCol w="3457607">
                  <a:extLst>
                    <a:ext uri="{9D8B030D-6E8A-4147-A177-3AD203B41FA5}">
                      <a16:colId xmlns:a16="http://schemas.microsoft.com/office/drawing/2014/main" val="2515566008"/>
                    </a:ext>
                  </a:extLst>
                </a:gridCol>
              </a:tblGrid>
              <a:tr h="324651">
                <a:tc gridSpan="2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체계적인 </a:t>
                      </a: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PT</a:t>
                      </a: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레슨상담 관리 시스템 및 레슨 프로그램</a:t>
                      </a:r>
                      <a:endParaRPr lang="en-US" altLang="ko-KR" sz="1200" b="1" dirty="0">
                        <a:solidFill>
                          <a:schemeClr val="bg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995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1699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979393"/>
                  </a:ext>
                </a:extLst>
              </a:tr>
              <a:tr h="117195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995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99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75102"/>
                  </a:ext>
                </a:extLst>
              </a:tr>
              <a:tr h="117195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995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99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56044"/>
                  </a:ext>
                </a:extLst>
              </a:tr>
              <a:tr h="117195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995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99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856105"/>
                  </a:ext>
                </a:extLst>
              </a:tr>
              <a:tr h="117195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995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99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860034"/>
                  </a:ext>
                </a:extLst>
              </a:tr>
              <a:tr h="2860209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  </a:t>
                      </a:r>
                    </a:p>
                    <a:p>
                      <a:pPr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  1. 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상담 가능시간 예약하기</a:t>
                      </a:r>
                      <a:endParaRPr lang="en-US" altLang="ko-KR" sz="1200" dirty="0">
                        <a:solidFill>
                          <a:schemeClr val="bg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latinLnBrk="1"/>
                      <a:endParaRPr lang="en-US" altLang="ko-KR" sz="1200" dirty="0">
                        <a:solidFill>
                          <a:schemeClr val="bg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  2. 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인바디 측정을 통한 운동목적 및 계획 상담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</a:t>
                      </a:r>
                    </a:p>
                    <a:p>
                      <a:pPr latinLnBrk="1"/>
                      <a:endParaRPr lang="en-US" altLang="ko-KR" sz="1200" dirty="0">
                        <a:solidFill>
                          <a:schemeClr val="bg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  3. 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간단한 운동 능력 테스트진행 운동수행  컨디션 확인</a:t>
                      </a:r>
                      <a:endParaRPr lang="en-US" altLang="ko-KR" sz="1200" dirty="0">
                        <a:solidFill>
                          <a:schemeClr val="bg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latinLnBrk="1"/>
                      <a:endParaRPr lang="en-US" altLang="ko-KR" sz="1200" dirty="0">
                        <a:solidFill>
                          <a:schemeClr val="bg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  4.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필요한 트레이닝의 방향성 제시 및 운동 컨설팅</a:t>
                      </a:r>
                      <a:endParaRPr lang="en-US" altLang="ko-KR" sz="1200" dirty="0">
                        <a:solidFill>
                          <a:schemeClr val="bg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latinLnBrk="1"/>
                      <a:endParaRPr lang="en-US" altLang="ko-KR" sz="1200" dirty="0">
                        <a:solidFill>
                          <a:schemeClr val="bg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  5. 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운동 목적 달성에 필요한 운동 계획 및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기간 제시</a:t>
                      </a:r>
                      <a:endParaRPr lang="en-US" altLang="ko-KR" sz="1200" dirty="0">
                        <a:solidFill>
                          <a:schemeClr val="bg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latinLnBrk="1"/>
                      <a:endParaRPr lang="en-US" altLang="ko-KR" sz="1200" dirty="0">
                        <a:solidFill>
                          <a:schemeClr val="bg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  6. 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레슨 진행과정 중 중간 점검을 통한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새로운 운동 계획 및 식단 제시 </a:t>
                      </a:r>
                      <a:endParaRPr lang="en-US" altLang="ko-KR" sz="1200" dirty="0">
                        <a:solidFill>
                          <a:schemeClr val="bg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latinLnBrk="1"/>
                      <a:endParaRPr lang="en-US" altLang="ko-KR" sz="1200" dirty="0">
                        <a:solidFill>
                          <a:schemeClr val="bg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확실한 결과를 위한 양질의 과정으로 더 나은 건강과을 만들기 위해 노력 하겠습니다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.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 </a:t>
                      </a:r>
                      <a:endParaRPr lang="ko-KR" altLang="en-US" dirty="0"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99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1092549"/>
                  </a:ext>
                </a:extLst>
              </a:tr>
            </a:tbl>
          </a:graphicData>
        </a:graphic>
      </p:graphicFrame>
      <p:sp>
        <p:nvSpPr>
          <p:cNvPr id="3" name="오른쪽 화살표 10">
            <a:extLst>
              <a:ext uri="{FF2B5EF4-FFF2-40B4-BE49-F238E27FC236}">
                <a16:creationId xmlns:a16="http://schemas.microsoft.com/office/drawing/2014/main" id="{CA805227-F492-F39C-5464-550D10808F60}"/>
              </a:ext>
            </a:extLst>
          </p:cNvPr>
          <p:cNvSpPr/>
          <p:nvPr/>
        </p:nvSpPr>
        <p:spPr>
          <a:xfrm>
            <a:off x="871494" y="3376349"/>
            <a:ext cx="1754563" cy="762390"/>
          </a:xfrm>
          <a:prstGeom prst="rightArrow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accent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펑셔널 트레이닝</a:t>
            </a:r>
          </a:p>
        </p:txBody>
      </p:sp>
      <p:sp>
        <p:nvSpPr>
          <p:cNvPr id="5" name="오른쪽 화살표 10">
            <a:extLst>
              <a:ext uri="{FF2B5EF4-FFF2-40B4-BE49-F238E27FC236}">
                <a16:creationId xmlns:a16="http://schemas.microsoft.com/office/drawing/2014/main" id="{B85705B2-45FB-BCDE-EEEC-1C3D5243EEE0}"/>
              </a:ext>
            </a:extLst>
          </p:cNvPr>
          <p:cNvSpPr/>
          <p:nvPr/>
        </p:nvSpPr>
        <p:spPr>
          <a:xfrm>
            <a:off x="871494" y="4571804"/>
            <a:ext cx="1754563" cy="762390"/>
          </a:xfrm>
          <a:prstGeom prst="rightArrow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rgbClr val="00B0F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웨이트 트레이닝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200B5AB-A76C-58D5-24D0-5D27B7E39E0D}"/>
              </a:ext>
            </a:extLst>
          </p:cNvPr>
          <p:cNvSpPr/>
          <p:nvPr/>
        </p:nvSpPr>
        <p:spPr>
          <a:xfrm>
            <a:off x="3134959" y="2053442"/>
            <a:ext cx="2705485" cy="88984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마사지와 운동을 통한 </a:t>
            </a:r>
            <a:endParaRPr lang="en-US" altLang="ko-KR" sz="1100" b="1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통증 해소 및 강화 프로그램</a:t>
            </a:r>
            <a:r>
              <a:rPr lang="en-US" altLang="ko-KR" sz="11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</a:p>
          <a:p>
            <a:pPr algn="ctr"/>
            <a:r>
              <a:rPr lang="en-US" altLang="ko-KR" sz="6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  </a:t>
            </a:r>
          </a:p>
          <a:p>
            <a:pPr algn="ctr"/>
            <a:r>
              <a:rPr lang="ko-KR" altLang="en-US" sz="1100" dirty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발목통증 </a:t>
            </a:r>
            <a:r>
              <a:rPr lang="en-US" altLang="ko-KR" sz="1100" dirty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무릅통증 </a:t>
            </a:r>
            <a:r>
              <a:rPr lang="en-US" altLang="ko-KR" sz="1100" dirty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허리통증</a:t>
            </a:r>
            <a:r>
              <a:rPr lang="en-US" altLang="ko-KR" sz="1100" dirty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</a:t>
            </a:r>
          </a:p>
          <a:p>
            <a:pPr algn="ctr"/>
            <a:r>
              <a:rPr lang="ko-KR" altLang="en-US" sz="1100" dirty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어깨통증 </a:t>
            </a:r>
            <a:r>
              <a:rPr lang="en-US" altLang="ko-KR" sz="1100" dirty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목의통증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608BF5B-8305-B8DE-A000-B4EBBBB94B46}"/>
              </a:ext>
            </a:extLst>
          </p:cNvPr>
          <p:cNvSpPr/>
          <p:nvPr/>
        </p:nvSpPr>
        <p:spPr>
          <a:xfrm>
            <a:off x="3134959" y="3221685"/>
            <a:ext cx="2705485" cy="88984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스트레칭 및 저항운동을 통한</a:t>
            </a:r>
            <a:endParaRPr lang="en-US" altLang="ko-KR" sz="1100" b="1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몸의 기능강화 </a:t>
            </a:r>
            <a:endParaRPr lang="en-US" altLang="ko-KR" sz="1100" b="1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/>
            <a:r>
              <a:rPr lang="en-US" altLang="ko-KR" sz="6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 </a:t>
            </a:r>
          </a:p>
          <a:p>
            <a:pPr algn="ctr"/>
            <a:r>
              <a:rPr lang="ko-KR" altLang="en-US" sz="1100" dirty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몸의 컨디션 레벨 업</a:t>
            </a:r>
            <a:endParaRPr lang="en-US" altLang="ko-KR" sz="1100" dirty="0">
              <a:solidFill>
                <a:srgbClr val="FF000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/>
            <a:r>
              <a:rPr lang="ko-KR" altLang="en-US" sz="1100" dirty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체형교정 </a:t>
            </a:r>
            <a:r>
              <a:rPr lang="en-US" altLang="ko-KR" sz="1100" dirty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유연성 향상</a:t>
            </a:r>
            <a:r>
              <a:rPr lang="en-US" altLang="ko-KR" sz="1100" dirty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</a:t>
            </a:r>
          </a:p>
          <a:p>
            <a:pPr algn="ctr"/>
            <a:r>
              <a:rPr lang="ko-KR" altLang="en-US" sz="1100" dirty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밸런스향상 </a:t>
            </a:r>
            <a:r>
              <a:rPr lang="en-US" altLang="ko-KR" sz="1100" dirty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체력 향상 </a:t>
            </a:r>
            <a:r>
              <a:rPr lang="en-US" altLang="ko-KR" sz="1100" dirty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라인정렬</a:t>
            </a:r>
            <a:endParaRPr lang="en-US" altLang="ko-KR" sz="1100" dirty="0">
              <a:solidFill>
                <a:srgbClr val="FF000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0E3B98E-3EAC-743E-C2FA-A726204E1947}"/>
              </a:ext>
            </a:extLst>
          </p:cNvPr>
          <p:cNvSpPr/>
          <p:nvPr/>
        </p:nvSpPr>
        <p:spPr>
          <a:xfrm>
            <a:off x="3134959" y="4410820"/>
            <a:ext cx="2705485" cy="88984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고강도 웨이트 트레이닝 </a:t>
            </a:r>
            <a:endParaRPr lang="en-US" altLang="ko-KR" sz="1100" b="1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근력증가</a:t>
            </a:r>
            <a:r>
              <a:rPr lang="en-US" altLang="ko-KR" sz="11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</a:t>
            </a:r>
            <a:r>
              <a:rPr lang="ko-KR" altLang="en-US" sz="11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근육증가</a:t>
            </a:r>
            <a:endParaRPr lang="en-US" altLang="ko-KR" sz="1100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/>
            <a:r>
              <a:rPr lang="en-US" altLang="ko-KR" sz="600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 </a:t>
            </a:r>
          </a:p>
          <a:p>
            <a:pPr algn="ctr"/>
            <a:r>
              <a:rPr lang="ko-KR" altLang="en-US" sz="1100" b="1" dirty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유산소성 근력운동</a:t>
            </a:r>
            <a:endParaRPr lang="en-US" altLang="ko-KR" sz="1100" b="1" dirty="0">
              <a:solidFill>
                <a:srgbClr val="FF000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/>
            <a:r>
              <a:rPr lang="ko-KR" altLang="en-US" sz="1100" dirty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체력향상</a:t>
            </a:r>
            <a:r>
              <a:rPr lang="en-US" altLang="ko-KR" sz="1100" dirty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</a:t>
            </a:r>
            <a:r>
              <a:rPr lang="ko-KR" altLang="en-US" sz="1100" dirty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다이어트</a:t>
            </a:r>
            <a:endParaRPr lang="en-US" altLang="ko-KR" sz="1100" dirty="0">
              <a:solidFill>
                <a:srgbClr val="FF000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3" name="오른쪽 화살표 10">
            <a:extLst>
              <a:ext uri="{FF2B5EF4-FFF2-40B4-BE49-F238E27FC236}">
                <a16:creationId xmlns:a16="http://schemas.microsoft.com/office/drawing/2014/main" id="{1B97E12E-DCC3-C412-D5F4-1A8DDB7997FC}"/>
              </a:ext>
            </a:extLst>
          </p:cNvPr>
          <p:cNvSpPr/>
          <p:nvPr/>
        </p:nvSpPr>
        <p:spPr>
          <a:xfrm>
            <a:off x="871492" y="5767259"/>
            <a:ext cx="1754563" cy="762390"/>
          </a:xfrm>
          <a:prstGeom prst="rightArrow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accent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골프 트레이닝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33F09BA-F529-E283-04F9-6EC0D3D62729}"/>
              </a:ext>
            </a:extLst>
          </p:cNvPr>
          <p:cNvSpPr/>
          <p:nvPr/>
        </p:nvSpPr>
        <p:spPr>
          <a:xfrm>
            <a:off x="3134959" y="5601445"/>
            <a:ext cx="2705485" cy="88984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비거리 향상 트레이닝</a:t>
            </a:r>
            <a:endParaRPr lang="en-US" altLang="ko-KR" sz="1100" b="1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/>
            <a:endParaRPr lang="en-US" altLang="ko-KR" sz="1100" b="1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골프 밸런스 트레이닝</a:t>
            </a:r>
            <a:endParaRPr lang="en-US" altLang="ko-KR" sz="1100" b="1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/>
            <a:endParaRPr lang="en-US" altLang="ko-KR" sz="1100" b="1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골프 컨디셔닝</a:t>
            </a:r>
            <a:endParaRPr lang="en-US" altLang="ko-KR" sz="1100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5" name="오른쪽 화살표 10">
            <a:extLst>
              <a:ext uri="{FF2B5EF4-FFF2-40B4-BE49-F238E27FC236}">
                <a16:creationId xmlns:a16="http://schemas.microsoft.com/office/drawing/2014/main" id="{6868105D-CE48-0BF0-1F54-65AAF3AF6294}"/>
              </a:ext>
            </a:extLst>
          </p:cNvPr>
          <p:cNvSpPr/>
          <p:nvPr/>
        </p:nvSpPr>
        <p:spPr>
          <a:xfrm>
            <a:off x="871493" y="2180894"/>
            <a:ext cx="1754563" cy="762390"/>
          </a:xfrm>
          <a:prstGeom prst="rightArrow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rgbClr val="00206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재활 트레이닝</a:t>
            </a:r>
          </a:p>
        </p:txBody>
      </p:sp>
    </p:spTree>
    <p:extLst>
      <p:ext uri="{BB962C8B-B14F-4D97-AF65-F5344CB8AC3E}">
        <p14:creationId xmlns:p14="http://schemas.microsoft.com/office/powerpoint/2010/main" val="1603723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B7723-78DD-31CB-4F25-BFAF87B0B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B890A8E-6600-71FE-D24C-FB52FE3D76A9}"/>
              </a:ext>
            </a:extLst>
          </p:cNvPr>
          <p:cNvSpPr/>
          <p:nvPr/>
        </p:nvSpPr>
        <p:spPr>
          <a:xfrm>
            <a:off x="0" y="0"/>
            <a:ext cx="6857999" cy="990599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94F4827-3F92-1EDF-0C1C-08CF25E1D8D8}"/>
              </a:ext>
            </a:extLst>
          </p:cNvPr>
          <p:cNvGraphicFramePr>
            <a:graphicFrameLocks noGrp="1"/>
          </p:cNvGraphicFramePr>
          <p:nvPr/>
        </p:nvGraphicFramePr>
        <p:xfrm>
          <a:off x="243349" y="233516"/>
          <a:ext cx="6371302" cy="9438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1302">
                  <a:extLst>
                    <a:ext uri="{9D8B030D-6E8A-4147-A177-3AD203B41FA5}">
                      <a16:colId xmlns:a16="http://schemas.microsoft.com/office/drawing/2014/main" val="1819485311"/>
                    </a:ext>
                  </a:extLst>
                </a:gridCol>
              </a:tblGrid>
              <a:tr h="9438968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215089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15D9C52-C0B6-F097-8F75-12BF8658EE5D}"/>
              </a:ext>
            </a:extLst>
          </p:cNvPr>
          <p:cNvGraphicFramePr>
            <a:graphicFrameLocks noGrp="1"/>
          </p:cNvGraphicFramePr>
          <p:nvPr/>
        </p:nvGraphicFramePr>
        <p:xfrm>
          <a:off x="382228" y="378541"/>
          <a:ext cx="6093541" cy="9148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3541">
                  <a:extLst>
                    <a:ext uri="{9D8B030D-6E8A-4147-A177-3AD203B41FA5}">
                      <a16:colId xmlns:a16="http://schemas.microsoft.com/office/drawing/2014/main" val="1819485311"/>
                    </a:ext>
                  </a:extLst>
                </a:gridCol>
              </a:tblGrid>
              <a:tr h="9148916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0"/>
                      </a:blip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81321508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23C3EA81-7DBA-730A-F0DA-C573C4E63F38}"/>
              </a:ext>
            </a:extLst>
          </p:cNvPr>
          <p:cNvSpPr txBox="1"/>
          <p:nvPr/>
        </p:nvSpPr>
        <p:spPr>
          <a:xfrm>
            <a:off x="597133" y="805385"/>
            <a:ext cx="56637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vie" panose="04040805050809020602" pitchFamily="82" charset="0"/>
                <a:ea typeface="STXingkai" panose="02010800040101010101" pitchFamily="2" charset="-122"/>
                <a:cs typeface="BrowalliaUPC" panose="020B0502040204020203" pitchFamily="34" charset="-34"/>
              </a:rPr>
              <a:t>DIET CAMP &amp; PT</a:t>
            </a:r>
            <a:endParaRPr lang="ko-KR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avie" panose="04040805050809020602" pitchFamily="82" charset="0"/>
              <a:cs typeface="BrowalliaUPC" panose="020B0502040204020203" pitchFamily="34" charset="-34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1B73E35-2F72-1E53-3BA9-566EA1737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569954"/>
              </p:ext>
            </p:extLst>
          </p:nvPr>
        </p:nvGraphicFramePr>
        <p:xfrm>
          <a:off x="696771" y="2573190"/>
          <a:ext cx="5464454" cy="6178239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464454">
                  <a:extLst>
                    <a:ext uri="{9D8B030D-6E8A-4147-A177-3AD203B41FA5}">
                      <a16:colId xmlns:a16="http://schemas.microsoft.com/office/drawing/2014/main" val="1327981832"/>
                    </a:ext>
                  </a:extLst>
                </a:gridCol>
              </a:tblGrid>
              <a:tr h="5977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비거리 향상을 위한 근력 트레이닝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829147"/>
                  </a:ext>
                </a:extLst>
              </a:tr>
              <a:tr h="13911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골프근육 만들기</a:t>
                      </a:r>
                      <a:endParaRPr lang="en-US" altLang="ko-KR" sz="1400" dirty="0">
                        <a:solidFill>
                          <a:schemeClr val="bg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골프 스윙 시 필요한 하체 근력</a:t>
                      </a: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,</a:t>
                      </a:r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코어 근육</a:t>
                      </a: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,</a:t>
                      </a:r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상체 근력 만들기</a:t>
                      </a:r>
                      <a:endParaRPr lang="en-US" altLang="ko-KR" sz="1400" dirty="0">
                        <a:solidFill>
                          <a:schemeClr val="bg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algn="ctr" latinLnBrk="1"/>
                      <a:endParaRPr lang="en-US" altLang="ko-KR" sz="1400" dirty="0"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algn="ctr" latinLnBrk="1"/>
                      <a:r>
                        <a:rPr lang="ko-KR" altLang="en-US" sz="1600" dirty="0">
                          <a:solidFill>
                            <a:srgbClr val="FFFF00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목적</a:t>
                      </a:r>
                      <a:r>
                        <a:rPr lang="en-US" altLang="ko-KR" sz="1600" dirty="0">
                          <a:solidFill>
                            <a:srgbClr val="FFFF00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: </a:t>
                      </a:r>
                      <a:r>
                        <a:rPr lang="ko-KR" altLang="en-US" sz="1600" dirty="0">
                          <a:solidFill>
                            <a:srgbClr val="FFFF00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스윙의 가동범위 향상 및 스윙의 파워 증가</a:t>
                      </a:r>
                    </a:p>
                  </a:txBody>
                  <a:tcPr anchor="ctr">
                    <a:solidFill>
                      <a:srgbClr val="1699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523906"/>
                  </a:ext>
                </a:extLst>
              </a:tr>
              <a:tr h="5703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골프 밸런스 유연성 트레이닝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785973"/>
                  </a:ext>
                </a:extLst>
              </a:tr>
              <a:tr h="15247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골프 스윙에 필요한 유연성 밸런스 만들기</a:t>
                      </a:r>
                      <a:endParaRPr lang="en-US" altLang="ko-KR" sz="1400" dirty="0">
                        <a:solidFill>
                          <a:schemeClr val="bg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불균형에서 오는 밸런스 정렬 및 통증 해소</a:t>
                      </a:r>
                      <a:endParaRPr lang="en-US" altLang="ko-KR" sz="1400" dirty="0">
                        <a:solidFill>
                          <a:schemeClr val="bg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algn="ctr" latinLnBrk="1"/>
                      <a:endParaRPr lang="en-US" altLang="ko-KR" sz="1400" dirty="0"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algn="ctr" latinLnBrk="1"/>
                      <a:r>
                        <a:rPr lang="ko-KR" altLang="en-US" sz="16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목적</a:t>
                      </a:r>
                      <a:r>
                        <a:rPr lang="en-US" altLang="ko-KR" sz="16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: </a:t>
                      </a:r>
                      <a:r>
                        <a:rPr lang="ko-KR" altLang="en-US" sz="16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몸의 불필요한 긴장을 줄이고 </a:t>
                      </a:r>
                      <a:endParaRPr lang="en-US" altLang="ko-KR" sz="1600" b="1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algn="ctr" latinLnBrk="1"/>
                      <a:r>
                        <a:rPr lang="ko-KR" altLang="en-US" sz="16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가동범위를 늘려 부상을 방지하며 안전한 스윙 만들기</a:t>
                      </a:r>
                    </a:p>
                  </a:txBody>
                  <a:tcPr anchor="ctr">
                    <a:solidFill>
                      <a:srgbClr val="1699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421352"/>
                  </a:ext>
                </a:extLst>
              </a:tr>
              <a:tr h="5695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골프 컨디셔닝 트레이닝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665455"/>
                  </a:ext>
                </a:extLst>
              </a:tr>
              <a:tr h="15247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필드 나가기 하루 전 컨디션 만들기</a:t>
                      </a:r>
                      <a:endParaRPr lang="en-US" altLang="ko-KR" sz="1400" dirty="0">
                        <a:solidFill>
                          <a:schemeClr val="bg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절대 손해 보지 않는 컨디션 만들기</a:t>
                      </a:r>
                      <a:endParaRPr lang="en-US" altLang="ko-KR" sz="1400" dirty="0">
                        <a:solidFill>
                          <a:schemeClr val="bg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algn="ctr" latinLnBrk="1"/>
                      <a:endParaRPr lang="en-US" altLang="ko-KR" sz="1400" dirty="0"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algn="ctr" latinLnBrk="1"/>
                      <a:r>
                        <a:rPr lang="ko-KR" altLang="en-US" sz="16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목적</a:t>
                      </a:r>
                      <a:r>
                        <a:rPr lang="en-US" altLang="ko-KR" sz="16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: </a:t>
                      </a:r>
                      <a:r>
                        <a:rPr lang="ko-KR" altLang="en-US" sz="16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하루 전 필요한 근육 긴장 과 회복 타이밍을 고려해 </a:t>
                      </a:r>
                      <a:endParaRPr lang="en-US" altLang="ko-KR" sz="1600" b="1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  <a:p>
                      <a:pPr algn="ctr" latinLnBrk="1"/>
                      <a:r>
                        <a:rPr lang="ko-KR" altLang="en-US" sz="16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최상의 파워와 컨디션 만들기</a:t>
                      </a:r>
                    </a:p>
                  </a:txBody>
                  <a:tcPr anchor="ctr">
                    <a:solidFill>
                      <a:srgbClr val="1699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40017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9DCF789-A26E-3695-D8CF-7604ABCDF925}"/>
              </a:ext>
            </a:extLst>
          </p:cNvPr>
          <p:cNvSpPr txBox="1"/>
          <p:nvPr/>
        </p:nvSpPr>
        <p:spPr>
          <a:xfrm>
            <a:off x="696771" y="2028053"/>
            <a:ext cx="52922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 </a:t>
            </a:r>
            <a:r>
              <a:rPr lang="en-US" altLang="ko-KR" sz="2000" b="1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*</a:t>
            </a:r>
            <a:r>
              <a:rPr lang="ko-KR" alt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골퍼들을  위한  </a:t>
            </a:r>
            <a:r>
              <a:rPr lang="en-US" altLang="ko-KR" sz="2000" b="1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PT</a:t>
            </a:r>
            <a:r>
              <a:rPr lang="ko-KR" alt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트레이닝 </a:t>
            </a:r>
          </a:p>
        </p:txBody>
      </p:sp>
    </p:spTree>
    <p:extLst>
      <p:ext uri="{BB962C8B-B14F-4D97-AF65-F5344CB8AC3E}">
        <p14:creationId xmlns:p14="http://schemas.microsoft.com/office/powerpoint/2010/main" val="1524283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0F7DD-B772-5CBC-009B-38ADE72DB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9BBDA2E-3A81-2547-60D9-12C8503B1BA3}"/>
              </a:ext>
            </a:extLst>
          </p:cNvPr>
          <p:cNvSpPr/>
          <p:nvPr/>
        </p:nvSpPr>
        <p:spPr>
          <a:xfrm>
            <a:off x="0" y="0"/>
            <a:ext cx="6857999" cy="990599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EE5382F-BE3B-B0E5-0C9B-56EF77D002AC}"/>
              </a:ext>
            </a:extLst>
          </p:cNvPr>
          <p:cNvGraphicFramePr>
            <a:graphicFrameLocks noGrp="1"/>
          </p:cNvGraphicFramePr>
          <p:nvPr/>
        </p:nvGraphicFramePr>
        <p:xfrm>
          <a:off x="243349" y="233516"/>
          <a:ext cx="6371302" cy="9438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1302">
                  <a:extLst>
                    <a:ext uri="{9D8B030D-6E8A-4147-A177-3AD203B41FA5}">
                      <a16:colId xmlns:a16="http://schemas.microsoft.com/office/drawing/2014/main" val="1819485311"/>
                    </a:ext>
                  </a:extLst>
                </a:gridCol>
              </a:tblGrid>
              <a:tr h="9438968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215089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E3D2BFF-1AB7-E645-211E-89E0F60C1940}"/>
              </a:ext>
            </a:extLst>
          </p:cNvPr>
          <p:cNvGraphicFramePr>
            <a:graphicFrameLocks noGrp="1"/>
          </p:cNvGraphicFramePr>
          <p:nvPr/>
        </p:nvGraphicFramePr>
        <p:xfrm>
          <a:off x="382228" y="378541"/>
          <a:ext cx="6093541" cy="9148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3541">
                  <a:extLst>
                    <a:ext uri="{9D8B030D-6E8A-4147-A177-3AD203B41FA5}">
                      <a16:colId xmlns:a16="http://schemas.microsoft.com/office/drawing/2014/main" val="1819485311"/>
                    </a:ext>
                  </a:extLst>
                </a:gridCol>
              </a:tblGrid>
              <a:tr h="9148916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215089"/>
                  </a:ext>
                </a:extLst>
              </a:tr>
            </a:tbl>
          </a:graphicData>
        </a:graphic>
      </p:graphicFrame>
      <p:sp>
        <p:nvSpPr>
          <p:cNvPr id="11" name="이중 물결 10">
            <a:extLst>
              <a:ext uri="{FF2B5EF4-FFF2-40B4-BE49-F238E27FC236}">
                <a16:creationId xmlns:a16="http://schemas.microsoft.com/office/drawing/2014/main" id="{A66C888B-3278-CE5E-98B4-F954204508E7}"/>
              </a:ext>
            </a:extLst>
          </p:cNvPr>
          <p:cNvSpPr/>
          <p:nvPr/>
        </p:nvSpPr>
        <p:spPr>
          <a:xfrm>
            <a:off x="1257299" y="1848106"/>
            <a:ext cx="4343401" cy="499371"/>
          </a:xfrm>
          <a:prstGeom prst="doubleWav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rgbClr val="000000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PT</a:t>
            </a:r>
            <a:r>
              <a:rPr lang="en-US" sz="1800" b="1" dirty="0">
                <a:solidFill>
                  <a:srgbClr val="000000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- PRICE LIST</a:t>
            </a:r>
            <a:endParaRPr lang="ko-KR" altLang="en-US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ACDD07-3A43-EF5B-2C33-31934F8BFED5}"/>
              </a:ext>
            </a:extLst>
          </p:cNvPr>
          <p:cNvSpPr txBox="1"/>
          <p:nvPr/>
        </p:nvSpPr>
        <p:spPr>
          <a:xfrm>
            <a:off x="597133" y="805385"/>
            <a:ext cx="56637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vie" panose="04040805050809020602" pitchFamily="82" charset="0"/>
                <a:ea typeface="STXingkai" panose="02010800040101010101" pitchFamily="2" charset="-122"/>
                <a:cs typeface="BrowalliaUPC" panose="020B0502040204020203" pitchFamily="34" charset="-34"/>
              </a:rPr>
              <a:t>DIET CAMP &amp; PT</a:t>
            </a:r>
            <a:endParaRPr lang="ko-KR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avie" panose="04040805050809020602" pitchFamily="82" charset="0"/>
              <a:cs typeface="BrowalliaUPC" panose="020B0502040204020203" pitchFamily="34" charset="-3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8BDC6C-DB78-B6E8-E91B-6E89CB72CC84}"/>
              </a:ext>
            </a:extLst>
          </p:cNvPr>
          <p:cNvSpPr txBox="1"/>
          <p:nvPr/>
        </p:nvSpPr>
        <p:spPr>
          <a:xfrm>
            <a:off x="1004200" y="2720048"/>
            <a:ext cx="4932842" cy="67710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PT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</a:t>
            </a:r>
            <a:endPara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 체험하기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            </a:t>
            </a:r>
            <a:r>
              <a:rPr lang="en-US" altLang="ko-KR" sz="1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…………………………       </a:t>
            </a:r>
            <a:r>
              <a:rPr lang="en-US" altLang="ko-KR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88.000</a:t>
            </a:r>
            <a:r>
              <a:rPr lang="ko-KR" altLang="en-US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원</a:t>
            </a:r>
            <a:endParaRPr lang="ko-KR" altLang="en-US" sz="1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D6E182-8826-8F00-3B2A-3DB6F33E7365}"/>
              </a:ext>
            </a:extLst>
          </p:cNvPr>
          <p:cNvSpPr txBox="1"/>
          <p:nvPr/>
        </p:nvSpPr>
        <p:spPr>
          <a:xfrm>
            <a:off x="1004199" y="3630671"/>
            <a:ext cx="4932843" cy="67710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PT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12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</a:t>
            </a:r>
            <a:endPara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회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77.000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원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(6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주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     </a:t>
            </a:r>
            <a:r>
              <a:rPr lang="en-US" altLang="ko-KR" sz="1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……………………      </a:t>
            </a:r>
            <a:r>
              <a:rPr lang="en-US" altLang="ko-KR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924.000</a:t>
            </a:r>
            <a:r>
              <a:rPr lang="ko-KR" altLang="en-US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원</a:t>
            </a:r>
            <a:endParaRPr lang="ko-KR" altLang="en-US" sz="1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8EC55D-D667-D16C-C04C-A0BB22BE0BEC}"/>
              </a:ext>
            </a:extLst>
          </p:cNvPr>
          <p:cNvSpPr txBox="1"/>
          <p:nvPr/>
        </p:nvSpPr>
        <p:spPr>
          <a:xfrm>
            <a:off x="1004200" y="4596127"/>
            <a:ext cx="4932842" cy="67710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PT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24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</a:t>
            </a:r>
            <a:endPara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회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74.200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원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(12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주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r>
              <a:rPr lang="ko-KR" altLang="en-US" sz="1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   </a:t>
            </a:r>
            <a:r>
              <a:rPr lang="en-US" altLang="ko-KR" sz="1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…………………   </a:t>
            </a:r>
            <a:r>
              <a:rPr lang="en-US" altLang="ko-KR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1.782.000</a:t>
            </a:r>
            <a:r>
              <a:rPr lang="ko-KR" altLang="en-US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원</a:t>
            </a:r>
            <a:endParaRPr lang="ko-KR" altLang="en-US" sz="1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2FDB66D1-5014-CDEF-313E-5D4E6FB3644A}"/>
              </a:ext>
            </a:extLst>
          </p:cNvPr>
          <p:cNvCxnSpPr>
            <a:cxnSpLocks/>
          </p:cNvCxnSpPr>
          <p:nvPr/>
        </p:nvCxnSpPr>
        <p:spPr>
          <a:xfrm>
            <a:off x="765432" y="7890549"/>
            <a:ext cx="5171609" cy="0"/>
          </a:xfrm>
          <a:prstGeom prst="line">
            <a:avLst/>
          </a:prstGeom>
          <a:ln w="57150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C57DDF0-0430-BB00-4DE2-EAFD7896D661}"/>
              </a:ext>
            </a:extLst>
          </p:cNvPr>
          <p:cNvSpPr txBox="1"/>
          <p:nvPr/>
        </p:nvSpPr>
        <p:spPr>
          <a:xfrm>
            <a:off x="1004200" y="5585121"/>
            <a:ext cx="4932842" cy="67710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PT 36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</a:t>
            </a:r>
            <a:endPara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회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68.750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원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(18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주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r>
              <a:rPr lang="ko-KR" altLang="en-US" sz="1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      </a:t>
            </a:r>
            <a:r>
              <a:rPr lang="en-US" altLang="ko-KR" sz="1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…………………   </a:t>
            </a:r>
            <a:r>
              <a:rPr lang="en-US" altLang="ko-KR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2.475.000</a:t>
            </a:r>
            <a:r>
              <a:rPr lang="ko-KR" altLang="en-US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원</a:t>
            </a:r>
            <a:endParaRPr lang="ko-KR" altLang="en-US" sz="1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FA02B8-7C70-74B8-9B4F-F13A56704150}"/>
              </a:ext>
            </a:extLst>
          </p:cNvPr>
          <p:cNvSpPr txBox="1"/>
          <p:nvPr/>
        </p:nvSpPr>
        <p:spPr>
          <a:xfrm>
            <a:off x="1004200" y="6574115"/>
            <a:ext cx="4932842" cy="67710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PT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50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</a:t>
            </a:r>
            <a:endPara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회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66.000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원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(30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주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r>
              <a:rPr lang="ko-KR" altLang="en-US" sz="1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     </a:t>
            </a:r>
            <a:r>
              <a:rPr lang="en-US" altLang="ko-KR" sz="1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…………………   </a:t>
            </a:r>
            <a:r>
              <a:rPr lang="en-US" altLang="ko-KR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3.300.000</a:t>
            </a:r>
            <a:r>
              <a:rPr lang="ko-KR" altLang="en-US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원</a:t>
            </a:r>
            <a:endParaRPr lang="ko-KR" altLang="en-US" sz="1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93C85C-7BFB-FC79-16FF-1A9E1D380170}"/>
              </a:ext>
            </a:extLst>
          </p:cNvPr>
          <p:cNvSpPr txBox="1"/>
          <p:nvPr/>
        </p:nvSpPr>
        <p:spPr>
          <a:xfrm>
            <a:off x="754913" y="8321896"/>
            <a:ext cx="49680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기간 내 재등록 시 </a:t>
            </a:r>
            <a:r>
              <a:rPr lang="en-US" altLang="ko-KR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PT</a:t>
            </a:r>
            <a:r>
              <a:rPr lang="ko-KR" altLang="en-US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세션  추가</a:t>
            </a:r>
            <a:endParaRPr lang="en-US" altLang="ko-KR" sz="14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  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영수증 리뷰 작성시 </a:t>
            </a:r>
            <a:r>
              <a:rPr lang="en-US" altLang="ko-KR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– PT 1</a:t>
            </a:r>
            <a:r>
              <a:rPr lang="ko-KR" altLang="en-US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 추가</a:t>
            </a:r>
            <a:endParaRPr lang="en-US" altLang="ko-KR" sz="14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A92849-2D39-043E-2010-8F157A12EFE2}"/>
              </a:ext>
            </a:extLst>
          </p:cNvPr>
          <p:cNvSpPr txBox="1"/>
          <p:nvPr/>
        </p:nvSpPr>
        <p:spPr>
          <a:xfrm>
            <a:off x="4109549" y="8085864"/>
            <a:ext cx="21510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</a:rPr>
              <a:t>카카오뱅크 이승기  </a:t>
            </a:r>
            <a:endParaRPr lang="en-US" altLang="ko-KR" sz="1600" dirty="0">
              <a:solidFill>
                <a:schemeClr val="bg1"/>
              </a:solidFill>
            </a:endParaRPr>
          </a:p>
          <a:p>
            <a:r>
              <a:rPr lang="en-US" altLang="ko-KR" sz="1600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3333-26-9400934</a:t>
            </a:r>
            <a:endParaRPr lang="en-US" altLang="ko-KR" sz="1600" dirty="0">
              <a:solidFill>
                <a:schemeClr val="bg1"/>
              </a:solidFill>
            </a:endParaRPr>
          </a:p>
          <a:p>
            <a:r>
              <a:rPr lang="en-US" altLang="ko-KR" sz="1050" dirty="0">
                <a:solidFill>
                  <a:schemeClr val="bg1"/>
                </a:solidFill>
              </a:rPr>
              <a:t>   </a:t>
            </a:r>
          </a:p>
          <a:p>
            <a:r>
              <a:rPr lang="ko-KR" altLang="en-US" sz="1600" dirty="0">
                <a:solidFill>
                  <a:schemeClr val="bg1"/>
                </a:solidFill>
              </a:rPr>
              <a:t>카카오뱅크 이대우</a:t>
            </a:r>
            <a:r>
              <a:rPr lang="en-US" altLang="ko-KR" sz="1600" dirty="0">
                <a:solidFill>
                  <a:schemeClr val="bg1"/>
                </a:solidFill>
              </a:rPr>
              <a:t>   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3333-31-6550876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9216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DF600-1B44-C7BC-268B-CD4457641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EC58B55-2102-0533-74AE-EA3A9D5D1E7D}"/>
              </a:ext>
            </a:extLst>
          </p:cNvPr>
          <p:cNvSpPr/>
          <p:nvPr/>
        </p:nvSpPr>
        <p:spPr>
          <a:xfrm>
            <a:off x="0" y="0"/>
            <a:ext cx="6857999" cy="990599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13C75EF-E84B-83E0-05A7-07E062907B97}"/>
              </a:ext>
            </a:extLst>
          </p:cNvPr>
          <p:cNvGraphicFramePr>
            <a:graphicFrameLocks noGrp="1"/>
          </p:cNvGraphicFramePr>
          <p:nvPr/>
        </p:nvGraphicFramePr>
        <p:xfrm>
          <a:off x="243349" y="233516"/>
          <a:ext cx="6371302" cy="9438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1302">
                  <a:extLst>
                    <a:ext uri="{9D8B030D-6E8A-4147-A177-3AD203B41FA5}">
                      <a16:colId xmlns:a16="http://schemas.microsoft.com/office/drawing/2014/main" val="1819485311"/>
                    </a:ext>
                  </a:extLst>
                </a:gridCol>
              </a:tblGrid>
              <a:tr h="9438968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215089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C3C36952-F313-464B-5B59-4A1BD382E124}"/>
              </a:ext>
            </a:extLst>
          </p:cNvPr>
          <p:cNvGraphicFramePr>
            <a:graphicFrameLocks noGrp="1"/>
          </p:cNvGraphicFramePr>
          <p:nvPr/>
        </p:nvGraphicFramePr>
        <p:xfrm>
          <a:off x="382228" y="378541"/>
          <a:ext cx="6093541" cy="9148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3541">
                  <a:extLst>
                    <a:ext uri="{9D8B030D-6E8A-4147-A177-3AD203B41FA5}">
                      <a16:colId xmlns:a16="http://schemas.microsoft.com/office/drawing/2014/main" val="1819485311"/>
                    </a:ext>
                  </a:extLst>
                </a:gridCol>
              </a:tblGrid>
              <a:tr h="914891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215089"/>
                  </a:ext>
                </a:extLst>
              </a:tr>
            </a:tbl>
          </a:graphicData>
        </a:graphic>
      </p:graphicFrame>
      <p:sp>
        <p:nvSpPr>
          <p:cNvPr id="11" name="이중 물결 10">
            <a:extLst>
              <a:ext uri="{FF2B5EF4-FFF2-40B4-BE49-F238E27FC236}">
                <a16:creationId xmlns:a16="http://schemas.microsoft.com/office/drawing/2014/main" id="{D7F455AB-49CD-001B-1164-5E84700B0F43}"/>
              </a:ext>
            </a:extLst>
          </p:cNvPr>
          <p:cNvSpPr/>
          <p:nvPr/>
        </p:nvSpPr>
        <p:spPr>
          <a:xfrm>
            <a:off x="1257299" y="2016550"/>
            <a:ext cx="4343401" cy="499371"/>
          </a:xfrm>
          <a:prstGeom prst="doubleWav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rgbClr val="000000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DIETCAMP - PRICE LIST</a:t>
            </a:r>
            <a:endParaRPr lang="ko-KR" altLang="en-US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0B03B4-D081-9692-90DC-A880E911F81C}"/>
              </a:ext>
            </a:extLst>
          </p:cNvPr>
          <p:cNvSpPr txBox="1"/>
          <p:nvPr/>
        </p:nvSpPr>
        <p:spPr>
          <a:xfrm>
            <a:off x="597133" y="805385"/>
            <a:ext cx="56637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vie" panose="04040805050809020602" pitchFamily="82" charset="0"/>
                <a:ea typeface="STXingkai" panose="02010800040101010101" pitchFamily="2" charset="-122"/>
                <a:cs typeface="BrowalliaUPC" panose="020B0502040204020203" pitchFamily="34" charset="-34"/>
              </a:rPr>
              <a:t>DIET CAMP &amp; PT</a:t>
            </a:r>
            <a:endParaRPr lang="ko-KR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avie" panose="04040805050809020602" pitchFamily="82" charset="0"/>
              <a:cs typeface="BrowalliaUPC" panose="020B0502040204020203" pitchFamily="34" charset="-3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D75D3E-7CF5-6952-073B-6DC9108C1156}"/>
              </a:ext>
            </a:extLst>
          </p:cNvPr>
          <p:cNvSpPr txBox="1"/>
          <p:nvPr/>
        </p:nvSpPr>
        <p:spPr>
          <a:xfrm>
            <a:off x="1142125" y="3158516"/>
            <a:ext cx="4645824" cy="67710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다이어트캠프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개월</a:t>
            </a:r>
            <a:endPara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 sz="1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 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월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330.000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원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       </a:t>
            </a:r>
            <a:r>
              <a:rPr lang="en-US" altLang="ko-KR" sz="1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……………………  </a:t>
            </a:r>
            <a:r>
              <a:rPr lang="en-US" altLang="ko-KR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330.000</a:t>
            </a:r>
            <a:r>
              <a:rPr lang="ko-KR" altLang="en-US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원</a:t>
            </a:r>
            <a:endParaRPr lang="ko-KR" altLang="en-US" sz="1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B123DF-35BC-95D0-61D5-3B263607A812}"/>
              </a:ext>
            </a:extLst>
          </p:cNvPr>
          <p:cNvSpPr txBox="1"/>
          <p:nvPr/>
        </p:nvSpPr>
        <p:spPr>
          <a:xfrm>
            <a:off x="1142125" y="4466185"/>
            <a:ext cx="4645824" cy="67710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다이어트캠프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개월</a:t>
            </a:r>
            <a:endPara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 sz="1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 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월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264.000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원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       </a:t>
            </a:r>
            <a:r>
              <a:rPr lang="en-US" altLang="ko-KR" sz="1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……………………  </a:t>
            </a:r>
            <a:r>
              <a:rPr lang="en-US" altLang="ko-KR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792.000</a:t>
            </a:r>
            <a:r>
              <a:rPr lang="ko-KR" altLang="en-US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원</a:t>
            </a:r>
            <a:endParaRPr lang="ko-KR" altLang="en-US" sz="1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D97052-9325-2782-75DB-5C615A0643C4}"/>
              </a:ext>
            </a:extLst>
          </p:cNvPr>
          <p:cNvSpPr txBox="1"/>
          <p:nvPr/>
        </p:nvSpPr>
        <p:spPr>
          <a:xfrm>
            <a:off x="1142125" y="5773854"/>
            <a:ext cx="4633031" cy="67710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다이어트캠프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6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개월</a:t>
            </a:r>
            <a:endPara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 sz="1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 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월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242.000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원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         </a:t>
            </a:r>
            <a:r>
              <a:rPr lang="en-US" altLang="ko-KR" sz="1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………………   </a:t>
            </a:r>
            <a:r>
              <a:rPr lang="en-US" altLang="ko-KR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1,452.000</a:t>
            </a:r>
            <a:r>
              <a:rPr lang="ko-KR" altLang="en-US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원</a:t>
            </a:r>
            <a:endParaRPr lang="ko-KR" altLang="en-US" sz="1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7E951129-0C9A-3613-8FE7-EA431E528E4D}"/>
              </a:ext>
            </a:extLst>
          </p:cNvPr>
          <p:cNvCxnSpPr>
            <a:cxnSpLocks/>
          </p:cNvCxnSpPr>
          <p:nvPr/>
        </p:nvCxnSpPr>
        <p:spPr>
          <a:xfrm>
            <a:off x="807099" y="7385220"/>
            <a:ext cx="5171609" cy="0"/>
          </a:xfrm>
          <a:prstGeom prst="line">
            <a:avLst/>
          </a:prstGeom>
          <a:ln w="57150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174CF5C-7E7A-FE02-77D5-1C614FB1365E}"/>
              </a:ext>
            </a:extLst>
          </p:cNvPr>
          <p:cNvSpPr txBox="1"/>
          <p:nvPr/>
        </p:nvSpPr>
        <p:spPr>
          <a:xfrm>
            <a:off x="518342" y="7792832"/>
            <a:ext cx="496805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  3</a:t>
            </a:r>
            <a:r>
              <a:rPr lang="ko-KR" altLang="en-US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개월권 </a:t>
            </a:r>
            <a:r>
              <a:rPr lang="en-US" altLang="ko-KR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–</a:t>
            </a:r>
            <a:r>
              <a:rPr lang="ko-KR" altLang="en-US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일주일 연기권 </a:t>
            </a:r>
            <a:r>
              <a:rPr lang="en-US" altLang="ko-KR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</a:t>
            </a:r>
            <a:r>
              <a:rPr lang="ko-KR" altLang="en-US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개</a:t>
            </a:r>
            <a:r>
              <a:rPr lang="en-US" altLang="ko-KR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     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  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  6</a:t>
            </a:r>
            <a:r>
              <a:rPr lang="ko-KR" altLang="en-US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개월권</a:t>
            </a:r>
            <a:r>
              <a:rPr lang="en-US" altLang="ko-KR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 </a:t>
            </a:r>
            <a:r>
              <a:rPr lang="ko-KR" altLang="en-US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일주일 연기권 </a:t>
            </a:r>
            <a:r>
              <a:rPr lang="en-US" altLang="ko-KR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</a:t>
            </a:r>
            <a:r>
              <a:rPr lang="ko-KR" altLang="en-US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개</a:t>
            </a:r>
            <a:endParaRPr lang="en-US" altLang="ko-KR" sz="14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  </a:t>
            </a:r>
            <a:r>
              <a:rPr lang="ko-KR" altLang="en-US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영수증 리뷰 작성시</a:t>
            </a:r>
            <a:r>
              <a:rPr lang="en-US" altLang="ko-KR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-2</a:t>
            </a:r>
            <a:r>
              <a:rPr lang="ko-KR" altLang="en-US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주일 기간 서비스</a:t>
            </a:r>
            <a:endParaRPr lang="en-US" altLang="ko-KR" sz="14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CC6C98-C7C2-F0BE-D317-DB01EAF73F66}"/>
              </a:ext>
            </a:extLst>
          </p:cNvPr>
          <p:cNvSpPr txBox="1"/>
          <p:nvPr/>
        </p:nvSpPr>
        <p:spPr>
          <a:xfrm>
            <a:off x="4061671" y="7740165"/>
            <a:ext cx="21510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</a:rPr>
              <a:t>카카오뱅크 이승기  </a:t>
            </a:r>
            <a:endParaRPr lang="en-US" altLang="ko-KR" sz="1600" dirty="0">
              <a:solidFill>
                <a:schemeClr val="bg1"/>
              </a:solidFill>
            </a:endParaRPr>
          </a:p>
          <a:p>
            <a:r>
              <a:rPr lang="en-US" altLang="ko-KR" sz="1600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3333-26-9400934</a:t>
            </a:r>
            <a:endParaRPr lang="en-US" altLang="ko-KR" sz="1600" dirty="0">
              <a:solidFill>
                <a:schemeClr val="bg1"/>
              </a:solidFill>
            </a:endParaRPr>
          </a:p>
          <a:p>
            <a:r>
              <a:rPr lang="en-US" altLang="ko-KR" sz="1050" dirty="0">
                <a:solidFill>
                  <a:schemeClr val="bg1"/>
                </a:solidFill>
              </a:rPr>
              <a:t>   </a:t>
            </a:r>
          </a:p>
          <a:p>
            <a:r>
              <a:rPr lang="ko-KR" altLang="en-US" sz="1600" dirty="0">
                <a:solidFill>
                  <a:schemeClr val="bg1"/>
                </a:solidFill>
              </a:rPr>
              <a:t>카카오뱅크 이대우</a:t>
            </a:r>
            <a:r>
              <a:rPr lang="en-US" altLang="ko-KR" sz="1600" dirty="0">
                <a:solidFill>
                  <a:schemeClr val="bg1"/>
                </a:solidFill>
              </a:rPr>
              <a:t>   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3333-31-6550876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0784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2E76B-BE47-F4BA-6066-B695D38F9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7EC788F-BCFD-F4C2-A163-DBF7CC85D678}"/>
              </a:ext>
            </a:extLst>
          </p:cNvPr>
          <p:cNvSpPr/>
          <p:nvPr/>
        </p:nvSpPr>
        <p:spPr>
          <a:xfrm>
            <a:off x="0" y="0"/>
            <a:ext cx="6857999" cy="990599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54C1C12-ADDF-C82B-B7F8-F0E1AFA8569E}"/>
              </a:ext>
            </a:extLst>
          </p:cNvPr>
          <p:cNvGraphicFramePr>
            <a:graphicFrameLocks noGrp="1"/>
          </p:cNvGraphicFramePr>
          <p:nvPr/>
        </p:nvGraphicFramePr>
        <p:xfrm>
          <a:off x="243349" y="233516"/>
          <a:ext cx="6371302" cy="9438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1302">
                  <a:extLst>
                    <a:ext uri="{9D8B030D-6E8A-4147-A177-3AD203B41FA5}">
                      <a16:colId xmlns:a16="http://schemas.microsoft.com/office/drawing/2014/main" val="1819485311"/>
                    </a:ext>
                  </a:extLst>
                </a:gridCol>
              </a:tblGrid>
              <a:tr h="9438968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215089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DD9D273-E9B2-1951-D689-9225CD2523A9}"/>
              </a:ext>
            </a:extLst>
          </p:cNvPr>
          <p:cNvGraphicFramePr>
            <a:graphicFrameLocks noGrp="1"/>
          </p:cNvGraphicFramePr>
          <p:nvPr/>
        </p:nvGraphicFramePr>
        <p:xfrm>
          <a:off x="382228" y="378541"/>
          <a:ext cx="6093541" cy="9148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3541">
                  <a:extLst>
                    <a:ext uri="{9D8B030D-6E8A-4147-A177-3AD203B41FA5}">
                      <a16:colId xmlns:a16="http://schemas.microsoft.com/office/drawing/2014/main" val="1819485311"/>
                    </a:ext>
                  </a:extLst>
                </a:gridCol>
              </a:tblGrid>
              <a:tr h="9148916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0"/>
                      </a:blip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813215089"/>
                  </a:ext>
                </a:extLst>
              </a:tr>
            </a:tbl>
          </a:graphicData>
        </a:graphic>
      </p:graphicFrame>
      <p:sp>
        <p:nvSpPr>
          <p:cNvPr id="11" name="이중 물결 10">
            <a:extLst>
              <a:ext uri="{FF2B5EF4-FFF2-40B4-BE49-F238E27FC236}">
                <a16:creationId xmlns:a16="http://schemas.microsoft.com/office/drawing/2014/main" id="{CB9FA8A9-D7CB-52AD-BDC4-0748135B3A0B}"/>
              </a:ext>
            </a:extLst>
          </p:cNvPr>
          <p:cNvSpPr/>
          <p:nvPr/>
        </p:nvSpPr>
        <p:spPr>
          <a:xfrm>
            <a:off x="1231425" y="2103689"/>
            <a:ext cx="4343401" cy="499371"/>
          </a:xfrm>
          <a:prstGeom prst="doubleWav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rgbClr val="000000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DIETCAMP – COUPON</a:t>
            </a:r>
            <a:r>
              <a:rPr lang="ko-KR" altLang="en-US" sz="1800" b="1" dirty="0">
                <a:solidFill>
                  <a:srgbClr val="000000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sz="1800" b="1" dirty="0">
                <a:solidFill>
                  <a:srgbClr val="000000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PRICE LIST</a:t>
            </a:r>
            <a:endParaRPr lang="ko-KR" altLang="en-US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6C6E94-04E4-0F9F-206B-BF07238C79FE}"/>
              </a:ext>
            </a:extLst>
          </p:cNvPr>
          <p:cNvSpPr txBox="1"/>
          <p:nvPr/>
        </p:nvSpPr>
        <p:spPr>
          <a:xfrm>
            <a:off x="597133" y="805385"/>
            <a:ext cx="56637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vie" panose="04040805050809020602" pitchFamily="82" charset="0"/>
                <a:ea typeface="STXingkai" panose="02010800040101010101" pitchFamily="2" charset="-122"/>
                <a:cs typeface="BrowalliaUPC" panose="020B0502040204020203" pitchFamily="34" charset="-34"/>
              </a:rPr>
              <a:t>DIET CAMP &amp; PT</a:t>
            </a:r>
            <a:endParaRPr lang="ko-KR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avie" panose="04040805050809020602" pitchFamily="82" charset="0"/>
              <a:cs typeface="BrowalliaUPC" panose="020B0502040204020203" pitchFamily="34" charset="-34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935A60-44DA-AF04-0616-6B54991A0647}"/>
              </a:ext>
            </a:extLst>
          </p:cNvPr>
          <p:cNvSpPr txBox="1"/>
          <p:nvPr/>
        </p:nvSpPr>
        <p:spPr>
          <a:xfrm>
            <a:off x="789291" y="3241606"/>
            <a:ext cx="5237606" cy="67710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다이어트캠프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30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</a:t>
            </a:r>
            <a:endPara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 sz="1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 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13.200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원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(120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일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          </a:t>
            </a:r>
            <a:r>
              <a:rPr lang="en-US" altLang="ko-KR" sz="1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……………………   </a:t>
            </a:r>
            <a:r>
              <a:rPr lang="en-US" altLang="ko-KR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396.000</a:t>
            </a:r>
            <a:r>
              <a:rPr lang="ko-KR" altLang="en-US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원</a:t>
            </a:r>
            <a:endParaRPr lang="ko-KR" altLang="en-US" sz="1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61373C-B778-9F48-9714-D44C0CA6A2B9}"/>
              </a:ext>
            </a:extLst>
          </p:cNvPr>
          <p:cNvSpPr txBox="1"/>
          <p:nvPr/>
        </p:nvSpPr>
        <p:spPr>
          <a:xfrm>
            <a:off x="765225" y="4494195"/>
            <a:ext cx="5237606" cy="67710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다이어트캠프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50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</a:t>
            </a:r>
            <a:endPara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 sz="1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 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12.100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원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(180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일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          </a:t>
            </a:r>
            <a:r>
              <a:rPr lang="en-US" altLang="ko-KR" sz="1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……………………   </a:t>
            </a:r>
            <a:r>
              <a:rPr lang="en-US" altLang="ko-KR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605.000</a:t>
            </a:r>
            <a:r>
              <a:rPr lang="ko-KR" altLang="en-US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원</a:t>
            </a:r>
            <a:endParaRPr lang="ko-KR" altLang="en-US" sz="1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69F85C6-A68C-C2C6-0EFC-96216780E00E}"/>
              </a:ext>
            </a:extLst>
          </p:cNvPr>
          <p:cNvSpPr txBox="1"/>
          <p:nvPr/>
        </p:nvSpPr>
        <p:spPr>
          <a:xfrm>
            <a:off x="713978" y="5825194"/>
            <a:ext cx="5288823" cy="67710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다이어트캠프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100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</a:t>
            </a:r>
            <a:endPara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 sz="1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  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 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9.900 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원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(365</a:t>
            </a:r>
            <a:r>
              <a:rPr lang="ko-KR" altLang="en-US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일</a:t>
            </a:r>
            <a:r>
              <a:rPr lang="en-US" altLang="ko-KR" sz="12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         </a:t>
            </a:r>
            <a:r>
              <a:rPr lang="en-US" altLang="ko-KR" sz="1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……………………    </a:t>
            </a:r>
            <a:r>
              <a:rPr lang="en-US" altLang="ko-KR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990.000</a:t>
            </a:r>
            <a:r>
              <a:rPr lang="ko-KR" altLang="en-US" sz="2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원</a:t>
            </a:r>
            <a:endParaRPr lang="ko-KR" altLang="en-US" sz="1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DB60990-7904-C907-3754-DC3F9BA74C9E}"/>
              </a:ext>
            </a:extLst>
          </p:cNvPr>
          <p:cNvCxnSpPr>
            <a:cxnSpLocks/>
          </p:cNvCxnSpPr>
          <p:nvPr/>
        </p:nvCxnSpPr>
        <p:spPr>
          <a:xfrm>
            <a:off x="831222" y="7160368"/>
            <a:ext cx="5171609" cy="0"/>
          </a:xfrm>
          <a:prstGeom prst="line">
            <a:avLst/>
          </a:prstGeom>
          <a:ln w="57150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7DA0865-DC80-97B1-DF9C-DE1747C6E832}"/>
              </a:ext>
            </a:extLst>
          </p:cNvPr>
          <p:cNvSpPr txBox="1"/>
          <p:nvPr/>
        </p:nvSpPr>
        <p:spPr>
          <a:xfrm>
            <a:off x="765225" y="7875409"/>
            <a:ext cx="49680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#  </a:t>
            </a:r>
            <a:r>
              <a:rPr lang="ko-KR" altLang="en-US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쿠폰 이용권은 유효기간 이후 </a:t>
            </a:r>
            <a:endParaRPr lang="en-US" altLang="ko-KR" sz="14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  </a:t>
            </a:r>
            <a:r>
              <a:rPr lang="ko-KR" altLang="en-US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자동 소진 됩니다</a:t>
            </a:r>
            <a:r>
              <a:rPr lang="en-US" altLang="ko-KR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</a:t>
            </a:r>
            <a:r>
              <a:rPr lang="ko-KR" altLang="en-US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endParaRPr lang="en-US" altLang="ko-KR" sz="14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#  </a:t>
            </a:r>
            <a:r>
              <a:rPr lang="ko-KR" altLang="en-US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영수증 리뷰 작성시</a:t>
            </a:r>
            <a:r>
              <a:rPr lang="en-US" altLang="ko-KR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</a:t>
            </a:r>
            <a:r>
              <a:rPr lang="ko-KR" altLang="en-US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쿠폰 </a:t>
            </a:r>
            <a:r>
              <a:rPr lang="en-US" altLang="ko-KR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</a:t>
            </a:r>
            <a:r>
              <a:rPr lang="ko-KR" altLang="en-US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 제공</a:t>
            </a:r>
            <a:endParaRPr lang="en-US" altLang="ko-KR" sz="14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A8C891-A2E9-C5D9-3B1F-80207769A134}"/>
              </a:ext>
            </a:extLst>
          </p:cNvPr>
          <p:cNvSpPr txBox="1"/>
          <p:nvPr/>
        </p:nvSpPr>
        <p:spPr>
          <a:xfrm>
            <a:off x="4061671" y="7740165"/>
            <a:ext cx="21510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</a:rPr>
              <a:t>카카오뱅크 이승기  </a:t>
            </a:r>
            <a:endParaRPr lang="en-US" altLang="ko-KR" sz="1600" dirty="0">
              <a:solidFill>
                <a:schemeClr val="bg1"/>
              </a:solidFill>
            </a:endParaRPr>
          </a:p>
          <a:p>
            <a:r>
              <a:rPr lang="en-US" altLang="ko-KR" sz="1600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3333-26-9400934</a:t>
            </a:r>
            <a:endParaRPr lang="en-US" altLang="ko-KR" sz="1600" dirty="0">
              <a:solidFill>
                <a:schemeClr val="bg1"/>
              </a:solidFill>
            </a:endParaRPr>
          </a:p>
          <a:p>
            <a:r>
              <a:rPr lang="en-US" altLang="ko-KR" sz="1050" dirty="0">
                <a:solidFill>
                  <a:schemeClr val="bg1"/>
                </a:solidFill>
              </a:rPr>
              <a:t>   </a:t>
            </a:r>
          </a:p>
          <a:p>
            <a:r>
              <a:rPr lang="ko-KR" altLang="en-US" sz="1600" dirty="0">
                <a:solidFill>
                  <a:schemeClr val="bg1"/>
                </a:solidFill>
              </a:rPr>
              <a:t>카카오뱅크 이대우</a:t>
            </a:r>
            <a:r>
              <a:rPr lang="en-US" altLang="ko-KR" sz="1600" dirty="0">
                <a:solidFill>
                  <a:schemeClr val="bg1"/>
                </a:solidFill>
              </a:rPr>
              <a:t>   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3333-31-6550876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949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22273</TotalTime>
  <Words>604</Words>
  <Application>Microsoft Office PowerPoint</Application>
  <PresentationFormat>A4 용지(210x297mm)</PresentationFormat>
  <Paragraphs>156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나눔고딕 ExtraBold</vt:lpstr>
      <vt:lpstr>맑은 고딕</vt:lpstr>
      <vt:lpstr>Aptos</vt:lpstr>
      <vt:lpstr>Aptos Display</vt:lpstr>
      <vt:lpstr>Arial</vt:lpstr>
      <vt:lpstr>Ravie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seungki lee</dc:creator>
  <cp:lastModifiedBy>seungki lee</cp:lastModifiedBy>
  <cp:revision>15</cp:revision>
  <cp:lastPrinted>2025-11-19T00:46:09Z</cp:lastPrinted>
  <dcterms:created xsi:type="dcterms:W3CDTF">2025-10-21T00:44:17Z</dcterms:created>
  <dcterms:modified xsi:type="dcterms:W3CDTF">2026-08-31T06:50:18Z</dcterms:modified>
</cp:coreProperties>
</file>