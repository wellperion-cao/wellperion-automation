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1813" cy="15119350"/>
  <p:notesSz cx="9926638" cy="1435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72" y="-25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8000"/>
            <a:ext cx="10692000" cy="252000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61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D5B3F"/>
                </a:solidFill>
                <a:latin typeface="Cambria"/>
              </a:rPr>
              <a:t>CHAIRMAN'S BRIEFING · SUPPORT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724765"/>
            <a:ext cx="9612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 dirty="0" err="1">
                <a:solidFill>
                  <a:srgbClr val="FBF9F6"/>
                </a:solidFill>
                <a:latin typeface="Cambria"/>
              </a:rPr>
              <a:t>지원부</a:t>
            </a:r>
            <a:r>
              <a:rPr sz="2800" b="0" i="0" dirty="0">
                <a:solidFill>
                  <a:srgbClr val="FBF9F6"/>
                </a:solidFill>
                <a:latin typeface="Cambria"/>
              </a:rPr>
              <a:t> — </a:t>
            </a:r>
            <a:r>
              <a:rPr sz="2800" b="0" i="0" dirty="0" err="1">
                <a:solidFill>
                  <a:srgbClr val="FBF9F6"/>
                </a:solidFill>
                <a:latin typeface="Cambria"/>
              </a:rPr>
              <a:t>웰페리온에서</a:t>
            </a:r>
            <a:r>
              <a:rPr sz="2800" b="0" i="0" dirty="0">
                <a:solidFill>
                  <a:srgbClr val="FBF9F6"/>
                </a:solidFill>
                <a:latin typeface="Cambria"/>
              </a:rPr>
              <a:t>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147235"/>
            <a:ext cx="9612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1" dirty="0" err="1">
                <a:solidFill>
                  <a:srgbClr val="B79F8A"/>
                </a:solidFill>
                <a:latin typeface="Cambria"/>
              </a:rPr>
              <a:t>가장</a:t>
            </a:r>
            <a:r>
              <a:rPr sz="2800" b="0" i="1" dirty="0">
                <a:solidFill>
                  <a:srgbClr val="B79F8A"/>
                </a:solidFill>
                <a:latin typeface="Cambria"/>
              </a:rPr>
              <a:t> </a:t>
            </a:r>
            <a:r>
              <a:rPr sz="2800" b="0" i="1" dirty="0" err="1">
                <a:solidFill>
                  <a:srgbClr val="B79F8A"/>
                </a:solidFill>
                <a:latin typeface="Cambria"/>
              </a:rPr>
              <a:t>의미있는</a:t>
            </a:r>
            <a:r>
              <a:rPr sz="2800" b="0" i="1" dirty="0">
                <a:solidFill>
                  <a:srgbClr val="B79F8A"/>
                </a:solidFill>
                <a:latin typeface="Cambria"/>
              </a:rPr>
              <a:t> </a:t>
            </a:r>
            <a:r>
              <a:rPr sz="2800" b="0" i="1" dirty="0" err="1">
                <a:solidFill>
                  <a:srgbClr val="B79F8A"/>
                </a:solidFill>
                <a:latin typeface="Cambria"/>
              </a:rPr>
              <a:t>일을</a:t>
            </a:r>
            <a:r>
              <a:rPr sz="2800" b="0" i="1" dirty="0">
                <a:solidFill>
                  <a:srgbClr val="B79F8A"/>
                </a:solidFill>
                <a:latin typeface="Cambria"/>
              </a:rPr>
              <a:t> </a:t>
            </a:r>
            <a:r>
              <a:rPr sz="2800" b="0" i="1" dirty="0" err="1">
                <a:solidFill>
                  <a:srgbClr val="B79F8A"/>
                </a:solidFill>
                <a:latin typeface="Cambria"/>
              </a:rPr>
              <a:t>하고</a:t>
            </a:r>
            <a:r>
              <a:rPr sz="2800" b="0" i="1" dirty="0">
                <a:solidFill>
                  <a:srgbClr val="B79F8A"/>
                </a:solidFill>
                <a:latin typeface="Cambria"/>
              </a:rPr>
              <a:t> </a:t>
            </a:r>
            <a:r>
              <a:rPr sz="2800" b="0" i="1" dirty="0" err="1">
                <a:solidFill>
                  <a:srgbClr val="B79F8A"/>
                </a:solidFill>
                <a:latin typeface="Cambria"/>
              </a:rPr>
              <a:t>계십니다</a:t>
            </a:r>
            <a:r>
              <a:rPr sz="2800" b="0" i="1" dirty="0">
                <a:solidFill>
                  <a:srgbClr val="B79F8A"/>
                </a:solidFill>
                <a:latin typeface="Cambri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584000"/>
            <a:ext cx="9612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CDC0AE"/>
                </a:solidFill>
                <a:latin typeface="Malgun Gothic"/>
              </a:rPr>
              <a:t>밸류업의 전제 4개 부서 중 회원이 가장 먼저 체감하는 지원부. 점검관리·청결관리는 이미 안정화 궤도에 올랐고, 다음은 회원 응대 서비스 강화 — 그 노력은 데이터로 남기고, 회사가 인정합니다.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052000"/>
            <a:ext cx="28800" cy="414000"/>
          </a:xfrm>
          <a:prstGeom prst="rect">
            <a:avLst/>
          </a:prstGeom>
          <a:solidFill>
            <a:srgbClr val="ED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000" y="2070000"/>
            <a:ext cx="2952000" cy="12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ED5B3F"/>
                </a:solidFill>
                <a:latin typeface="Malgun Gothic"/>
              </a:rPr>
              <a:t>RECOGNITION · 감사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" y="2234100"/>
            <a:ext cx="295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 dirty="0" err="1">
                <a:solidFill>
                  <a:srgbClr val="FBF9F6"/>
                </a:solidFill>
                <a:latin typeface="Cambria"/>
              </a:rPr>
              <a:t>지금까지</a:t>
            </a:r>
            <a:r>
              <a:rPr sz="105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050" b="0" i="1" dirty="0" err="1">
                <a:solidFill>
                  <a:srgbClr val="FBF9F6"/>
                </a:solidFill>
                <a:latin typeface="Cambria"/>
              </a:rPr>
              <a:t>잘해주셨고</a:t>
            </a:r>
            <a:r>
              <a:rPr sz="1050" b="0" i="1" dirty="0">
                <a:solidFill>
                  <a:srgbClr val="FBF9F6"/>
                </a:solidFill>
                <a:latin typeface="Cambria"/>
              </a:rPr>
              <a:t>,</a:t>
            </a:r>
          </a:p>
          <a:p>
            <a:pPr algn="l">
              <a:lnSpc>
                <a:spcPct val="125000"/>
              </a:lnSpc>
            </a:pPr>
            <a:r>
              <a:rPr sz="1050" b="0" i="1" dirty="0">
                <a:solidFill>
                  <a:srgbClr val="FBF9F6"/>
                </a:solidFill>
                <a:latin typeface="Cambria"/>
              </a:rPr>
              <a:t>그 </a:t>
            </a:r>
            <a:r>
              <a:rPr sz="1050" b="0" i="1" dirty="0" err="1">
                <a:solidFill>
                  <a:srgbClr val="FBF9F6"/>
                </a:solidFill>
                <a:latin typeface="Cambria"/>
              </a:rPr>
              <a:t>일이</a:t>
            </a:r>
            <a:r>
              <a:rPr sz="1050" b="0" i="1" dirty="0">
                <a:solidFill>
                  <a:srgbClr val="FBF9F6"/>
                </a:solidFill>
                <a:latin typeface="Cambria"/>
              </a:rPr>
              <a:t> 곧 </a:t>
            </a:r>
            <a:r>
              <a:rPr sz="1050" b="0" i="1" dirty="0" err="1">
                <a:solidFill>
                  <a:srgbClr val="FBF9F6"/>
                </a:solidFill>
                <a:latin typeface="Cambria"/>
              </a:rPr>
              <a:t>웰페리온의</a:t>
            </a:r>
            <a:r>
              <a:rPr sz="105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050" b="0" i="1" dirty="0" err="1">
                <a:solidFill>
                  <a:srgbClr val="FBF9F6"/>
                </a:solidFill>
                <a:latin typeface="Cambria"/>
              </a:rPr>
              <a:t>품격입니다</a:t>
            </a:r>
            <a:r>
              <a:rPr sz="1050" b="0" i="1" dirty="0">
                <a:solidFill>
                  <a:srgbClr val="FBF9F6"/>
                </a:solidFill>
                <a:latin typeface="Cambria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6000" y="2052000"/>
            <a:ext cx="28800" cy="414000"/>
          </a:xfrm>
          <a:prstGeom prst="rect">
            <a:avLst/>
          </a:prstGeom>
          <a:solidFill>
            <a:srgbClr val="ED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06000" y="2070000"/>
            <a:ext cx="2952000" cy="12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ED5B3F"/>
                </a:solidFill>
                <a:latin typeface="Malgun Gothic"/>
              </a:rPr>
              <a:t>CONFIDENCE · 신뢰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6000" y="2234100"/>
            <a:ext cx="295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FBF9F6"/>
                </a:solidFill>
                <a:latin typeface="Cambria"/>
              </a:rPr>
              <a:t>약간의 이슈는 있지만,</a:t>
            </a:r>
          </a:p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FBF9F6"/>
                </a:solidFill>
                <a:latin typeface="Cambria"/>
              </a:rPr>
              <a:t>지금의 지원부면 충분히 잡습니다.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92000" y="2052000"/>
            <a:ext cx="28800" cy="414000"/>
          </a:xfrm>
          <a:prstGeom prst="rect">
            <a:avLst/>
          </a:prstGeom>
          <a:solidFill>
            <a:srgbClr val="ED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82000" y="2070000"/>
            <a:ext cx="2952000" cy="12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ED5B3F"/>
                </a:solidFill>
                <a:latin typeface="Malgun Gothic"/>
              </a:rPr>
              <a:t>VISION · 다음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2000" y="2234100"/>
            <a:ext cx="295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FBF9F6"/>
                </a:solidFill>
                <a:latin typeface="Cambria"/>
              </a:rPr>
              <a:t>다음은 회원 응대 강화로</a:t>
            </a:r>
          </a:p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FBF9F6"/>
                </a:solidFill>
                <a:latin typeface="Cambria"/>
              </a:rPr>
              <a:t>한 걸음 더 끌어올립니다.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3096000"/>
            <a:ext cx="961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 dirty="0">
                <a:solidFill>
                  <a:srgbClr val="ED5B3F"/>
                </a:solidFill>
                <a:latin typeface="Malgun Gothic"/>
              </a:rPr>
              <a:t>01 · SNAPSHOT   </a:t>
            </a:r>
            <a:r>
              <a:rPr sz="1300" b="0" i="0" dirty="0" err="1">
                <a:solidFill>
                  <a:srgbClr val="221F20"/>
                </a:solidFill>
                <a:latin typeface="Cambria"/>
              </a:rPr>
              <a:t>지원부</a:t>
            </a:r>
            <a:r>
              <a:rPr sz="1300" b="0" i="0" dirty="0">
                <a:solidFill>
                  <a:srgbClr val="221F20"/>
                </a:solidFill>
                <a:latin typeface="Cambria"/>
              </a:rPr>
              <a:t>, </a:t>
            </a:r>
            <a:r>
              <a:rPr sz="1300" b="0" i="0" dirty="0" err="1">
                <a:solidFill>
                  <a:srgbClr val="221F20"/>
                </a:solidFill>
                <a:latin typeface="Cambria"/>
              </a:rPr>
              <a:t>한눈에</a:t>
            </a:r>
            <a:r>
              <a:rPr sz="1300" b="0" i="0" dirty="0">
                <a:solidFill>
                  <a:srgbClr val="221F20"/>
                </a:solidFill>
                <a:latin typeface="Cambria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3114000"/>
            <a:ext cx="9612000" cy="23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1">
                <a:solidFill>
                  <a:srgbClr val="8A8587"/>
                </a:solidFill>
                <a:latin typeface="Malgun Gothic"/>
              </a:rPr>
              <a:t>매일 05:20 → 22:40 · 17시간 20분 무중단 운영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0000" y="3348000"/>
            <a:ext cx="9612000" cy="0"/>
          </a:xfrm>
          <a:prstGeom prst="line">
            <a:avLst/>
          </a:prstGeom>
          <a:ln w="9525">
            <a:solidFill>
              <a:srgbClr val="D9C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0000" y="3438000"/>
            <a:ext cx="3240000" cy="144000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6000" y="3582000"/>
            <a:ext cx="2808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ED5B3F"/>
                </a:solidFill>
                <a:latin typeface="Malgun Gothic"/>
              </a:rPr>
              <a:t>ALWAYS-ON FLOOR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000" y="3762000"/>
            <a:ext cx="280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 dirty="0">
                <a:solidFill>
                  <a:srgbClr val="FBF9F6"/>
                </a:solidFill>
                <a:latin typeface="Cambria"/>
              </a:rPr>
              <a:t>7명이 </a:t>
            </a:r>
            <a:r>
              <a:rPr sz="1900" b="0" i="1" dirty="0">
                <a:solidFill>
                  <a:srgbClr val="B79F8A"/>
                </a:solidFill>
                <a:latin typeface="Cambria"/>
              </a:rPr>
              <a:t>17시간</a:t>
            </a:r>
            <a:r>
              <a:rPr sz="1900" b="0" i="0" dirty="0">
                <a:solidFill>
                  <a:srgbClr val="FBF9F6"/>
                </a:solidFill>
                <a:latin typeface="Cambria"/>
              </a:rPr>
              <a:t>
</a:t>
            </a:r>
            <a:r>
              <a:rPr sz="1900" b="0" i="0" dirty="0" err="1">
                <a:solidFill>
                  <a:srgbClr val="FBF9F6"/>
                </a:solidFill>
                <a:latin typeface="Cambria"/>
              </a:rPr>
              <a:t>업장을</a:t>
            </a:r>
            <a:r>
              <a:rPr sz="1900" b="0" i="0" dirty="0">
                <a:solidFill>
                  <a:srgbClr val="FBF9F6"/>
                </a:solidFill>
                <a:latin typeface="Cambria"/>
              </a:rPr>
              <a:t> </a:t>
            </a:r>
            <a:r>
              <a:rPr sz="1900" b="0" i="0" dirty="0" err="1">
                <a:solidFill>
                  <a:srgbClr val="FBF9F6"/>
                </a:solidFill>
                <a:latin typeface="Cambria"/>
              </a:rPr>
              <a:t>비우지</a:t>
            </a:r>
            <a:r>
              <a:rPr sz="1900" b="0" i="0" dirty="0">
                <a:solidFill>
                  <a:srgbClr val="FBF9F6"/>
                </a:solidFill>
                <a:latin typeface="Cambria"/>
              </a:rPr>
              <a:t> </a:t>
            </a:r>
            <a:r>
              <a:rPr sz="1900" b="0" i="0" dirty="0" err="1">
                <a:solidFill>
                  <a:srgbClr val="FBF9F6"/>
                </a:solidFill>
                <a:latin typeface="Cambria"/>
              </a:rPr>
              <a:t>않습니다</a:t>
            </a:r>
            <a:r>
              <a:rPr sz="1900" b="0" i="0" dirty="0">
                <a:solidFill>
                  <a:srgbClr val="FBF9F6"/>
                </a:solidFill>
                <a:latin typeface="Cambria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24000" y="3438000"/>
            <a:ext cx="2004000" cy="1440000"/>
          </a:xfrm>
          <a:prstGeom prst="rect">
            <a:avLst/>
          </a:prstGeom>
          <a:solidFill>
            <a:srgbClr val="F7F2EC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50000" y="3564000"/>
            <a:ext cx="1752000" cy="12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ED5B3F"/>
                </a:solidFill>
                <a:latin typeface="Malgun Gothic"/>
              </a:rPr>
              <a:t>오전조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000" y="3708000"/>
            <a:ext cx="175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1F20"/>
                </a:solidFill>
                <a:latin typeface="Cambria"/>
              </a:rPr>
              <a:t>05:20 → 14:00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0000" y="3978000"/>
            <a:ext cx="14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21F20"/>
                </a:solidFill>
                <a:latin typeface="Malgun Gothic"/>
              </a:rPr>
              <a:t>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2000" y="3978000"/>
            <a:ext cx="159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천진석 주임 · (외곽 충원 예정)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0000" y="4302000"/>
            <a:ext cx="14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21F20"/>
                </a:solidFill>
                <a:latin typeface="Malgun Gothic"/>
              </a:rPr>
              <a:t>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2000" y="4302000"/>
            <a:ext cx="159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우춘화 주임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6000" y="3438000"/>
            <a:ext cx="2004000" cy="1440000"/>
          </a:xfrm>
          <a:prstGeom prst="rect">
            <a:avLst/>
          </a:prstGeom>
          <a:solidFill>
            <a:srgbClr val="F7F2EC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62000" y="3564000"/>
            <a:ext cx="1752000" cy="12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ED5B3F"/>
                </a:solidFill>
                <a:latin typeface="Malgun Gothic"/>
              </a:rPr>
              <a:t>중간조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2000" y="3708000"/>
            <a:ext cx="175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1F20"/>
                </a:solidFill>
                <a:latin typeface="Cambria"/>
              </a:rPr>
              <a:t>11:00 → 19:40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2000" y="3978000"/>
            <a:ext cx="14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21F20"/>
                </a:solidFill>
                <a:latin typeface="Malgun Gothic"/>
              </a:rPr>
              <a:t>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4000" y="3978000"/>
            <a:ext cx="159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김유정 주임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2000" y="4302000"/>
            <a:ext cx="14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21F20"/>
                </a:solidFill>
                <a:latin typeface="Malgun Gothic"/>
              </a:rPr>
              <a:t>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000" y="4302000"/>
            <a:ext cx="159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이연희 반장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48000" y="3438000"/>
            <a:ext cx="2004000" cy="1440000"/>
          </a:xfrm>
          <a:prstGeom prst="rect">
            <a:avLst/>
          </a:prstGeom>
          <a:solidFill>
            <a:srgbClr val="F7F2EC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4000" y="3564000"/>
            <a:ext cx="1752000" cy="12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ED5B3F"/>
                </a:solidFill>
                <a:latin typeface="Malgun Gothic"/>
              </a:rPr>
              <a:t>마감조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4000" y="3708000"/>
            <a:ext cx="175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1F20"/>
                </a:solidFill>
                <a:latin typeface="Cambria"/>
              </a:rPr>
              <a:t>14:00 → 22:40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4000" y="3978000"/>
            <a:ext cx="14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21F20"/>
                </a:solidFill>
                <a:latin typeface="Malgun Gothic"/>
              </a:rPr>
              <a:t>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6000" y="3978000"/>
            <a:ext cx="159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박남일 주임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4000" y="4302000"/>
            <a:ext cx="14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21F20"/>
                </a:solidFill>
                <a:latin typeface="Malgun Gothic"/>
              </a:rPr>
              <a:t>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6000" y="4302000"/>
            <a:ext cx="159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김미영 · 이경미 주임 (엇갈림 휴게)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0000" y="5058000"/>
            <a:ext cx="961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D5B3F"/>
                </a:solidFill>
                <a:latin typeface="Malgun Gothic"/>
              </a:rPr>
              <a:t>02 · STRENGTH   </a:t>
            </a:r>
            <a:r>
              <a:rPr sz="1300" b="0" i="0">
                <a:solidFill>
                  <a:srgbClr val="221F20"/>
                </a:solidFill>
                <a:latin typeface="Cambria"/>
              </a:rPr>
              <a:t>지원부가 지금 잘하고 있는 것 — 감사의 근거.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000" y="5076000"/>
            <a:ext cx="9612000" cy="23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1">
                <a:solidFill>
                  <a:srgbClr val="8A8587"/>
                </a:solidFill>
                <a:latin typeface="Malgun Gothic"/>
              </a:rPr>
              <a:t>회원 체감 품질의 최전선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40000" y="5310000"/>
            <a:ext cx="9612000" cy="0"/>
          </a:xfrm>
          <a:prstGeom prst="line">
            <a:avLst/>
          </a:prstGeom>
          <a:ln w="9525">
            <a:solidFill>
              <a:srgbClr val="D9C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40000" y="5400000"/>
            <a:ext cx="2322000" cy="1296000"/>
          </a:xfrm>
          <a:prstGeom prst="rect">
            <a:avLst/>
          </a:prstGeom>
          <a:solidFill>
            <a:srgbClr val="FBF9F6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84000" y="5544000"/>
            <a:ext cx="234000" cy="234000"/>
          </a:xfrm>
          <a:prstGeom prst="ellipse">
            <a:avLst/>
          </a:prstGeom>
          <a:solidFill>
            <a:srgbClr val="ED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4000" y="5544000"/>
            <a:ext cx="234000" cy="23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BF9F6"/>
                </a:solidFill>
                <a:latin typeface="Cambria"/>
              </a:rPr>
              <a:t>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4000" y="5832000"/>
            <a:ext cx="203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221F20"/>
                </a:solidFill>
                <a:latin typeface="Malgun Gothic"/>
              </a:rPr>
              <a:t>매뉴얼화된 청결 표준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70000" y="5400000"/>
            <a:ext cx="2322000" cy="1296000"/>
          </a:xfrm>
          <a:prstGeom prst="rect">
            <a:avLst/>
          </a:prstGeom>
          <a:solidFill>
            <a:srgbClr val="FBF9F6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3114000" y="5544000"/>
            <a:ext cx="234000" cy="234000"/>
          </a:xfrm>
          <a:prstGeom prst="ellipse">
            <a:avLst/>
          </a:prstGeom>
          <a:solidFill>
            <a:srgbClr val="ED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114000" y="5544000"/>
            <a:ext cx="234000" cy="23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BF9F6"/>
                </a:solidFill>
                <a:latin typeface="Cambria"/>
              </a:rPr>
              <a:t>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14000" y="5832000"/>
            <a:ext cx="203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221F20"/>
                </a:solidFill>
                <a:latin typeface="Malgun Gothic"/>
              </a:rPr>
              <a:t>트렐로 칸반 점검 체계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00000" y="5400000"/>
            <a:ext cx="2322000" cy="1296000"/>
          </a:xfrm>
          <a:prstGeom prst="rect">
            <a:avLst/>
          </a:prstGeom>
          <a:solidFill>
            <a:srgbClr val="FBF9F6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544000" y="5544000"/>
            <a:ext cx="234000" cy="234000"/>
          </a:xfrm>
          <a:prstGeom prst="ellipse">
            <a:avLst/>
          </a:prstGeom>
          <a:solidFill>
            <a:srgbClr val="ED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544000" y="5544000"/>
            <a:ext cx="234000" cy="23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BF9F6"/>
                </a:solidFill>
                <a:latin typeface="Cambria"/>
              </a:rPr>
              <a:t>Ⅲ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44000" y="5832000"/>
            <a:ext cx="203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221F20"/>
                </a:solidFill>
                <a:latin typeface="Malgun Gothic"/>
              </a:rPr>
              <a:t>이슈 · 노하우 동시 기록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30000" y="5400000"/>
            <a:ext cx="2322000" cy="1296000"/>
          </a:xfrm>
          <a:prstGeom prst="rect">
            <a:avLst/>
          </a:prstGeom>
          <a:solidFill>
            <a:srgbClr val="221F20"/>
          </a:solidFill>
          <a:ln w="9525">
            <a:solidFill>
              <a:srgbClr val="22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7974000" y="5544000"/>
            <a:ext cx="234000" cy="234000"/>
          </a:xfrm>
          <a:prstGeom prst="ellipse">
            <a:avLst/>
          </a:prstGeom>
          <a:solidFill>
            <a:srgbClr val="B79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74000" y="5544000"/>
            <a:ext cx="234000" cy="23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221F20"/>
                </a:solidFill>
                <a:latin typeface="Cambria"/>
              </a:rPr>
              <a:t>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74000" y="5832000"/>
            <a:ext cx="203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FBF9F6"/>
                </a:solidFill>
                <a:latin typeface="Malgun Gothic"/>
              </a:rPr>
              <a:t>하이엔드 응대 5원칙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0000" y="6876000"/>
            <a:ext cx="961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D5B3F"/>
                </a:solidFill>
                <a:latin typeface="Malgun Gothic"/>
              </a:rPr>
              <a:t>03 · NOW   </a:t>
            </a:r>
            <a:r>
              <a:rPr sz="1300" b="0" i="0">
                <a:solidFill>
                  <a:srgbClr val="221F20"/>
                </a:solidFill>
                <a:latin typeface="Cambria"/>
              </a:rPr>
              <a:t>점검관리 · 청결관리 현황 — 약간의 이슈, 그러나 극복 가능.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0000" y="6894000"/>
            <a:ext cx="9612000" cy="23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1">
                <a:solidFill>
                  <a:srgbClr val="8A8587"/>
                </a:solidFill>
                <a:latin typeface="Malgun Gothic"/>
              </a:rPr>
              <a:t>현재 지원부 역량으로 충분히 잡힙니다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40000" y="7128000"/>
            <a:ext cx="9612000" cy="0"/>
          </a:xfrm>
          <a:prstGeom prst="line">
            <a:avLst/>
          </a:prstGeom>
          <a:ln w="9525">
            <a:solidFill>
              <a:srgbClr val="D9C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40000" y="7218000"/>
            <a:ext cx="4734000" cy="1440000"/>
          </a:xfrm>
          <a:prstGeom prst="rect">
            <a:avLst/>
          </a:prstGeom>
          <a:solidFill>
            <a:srgbClr val="FBF9F6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40000" y="7218000"/>
            <a:ext cx="43200" cy="1440000"/>
          </a:xfrm>
          <a:prstGeom prst="rect">
            <a:avLst/>
          </a:prstGeom>
          <a:solidFill>
            <a:srgbClr val="ED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20000" y="7326000"/>
            <a:ext cx="437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D5B3F"/>
                </a:solidFill>
                <a:latin typeface="Malgun Gothic"/>
              </a:rPr>
              <a:t>발견된 약간의 이슈   ·   현장에서 보이는 것들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0000" y="7578000"/>
            <a:ext cx="7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D5B3F"/>
                </a:solidFill>
                <a:latin typeface="Malgun Gothic"/>
              </a:rPr>
              <a:t>·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2000" y="7578000"/>
            <a:ext cx="430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조 간 인계 격차 — 마감·오전 인계 시점에 상태 공유가 균일하지 않은 날이 있음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0000" y="7830000"/>
            <a:ext cx="7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D5B3F"/>
                </a:solidFill>
                <a:latin typeface="Malgun Gothic"/>
              </a:rPr>
              <a:t>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2000" y="7830000"/>
            <a:ext cx="430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점검 사진 누락 — 청소 전·후 사진이 일부 항목에서 빠지는 경우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0000" y="8082000"/>
            <a:ext cx="7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D5B3F"/>
                </a:solidFill>
                <a:latin typeface="Malgun Gothic"/>
              </a:rPr>
              <a:t>·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2000" y="8082000"/>
            <a:ext cx="430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약품·소모품 라벨링 — 분무기·자가 분류가 추가 정비될 여지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0000" y="8334000"/>
            <a:ext cx="7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D5B3F"/>
                </a:solidFill>
                <a:latin typeface="Malgun Gothic"/>
              </a:rPr>
              <a:t>·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2000" y="8334000"/>
            <a:ext cx="430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회원 체감 이슈의 일부는 외부 접수가 먼저 들어오는 경우 있음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18000" y="7218000"/>
            <a:ext cx="4734000" cy="1440000"/>
          </a:xfrm>
          <a:prstGeom prst="rect">
            <a:avLst/>
          </a:prstGeom>
          <a:solidFill>
            <a:srgbClr val="F7F2EC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418000" y="7218000"/>
            <a:ext cx="43200" cy="1440000"/>
          </a:xfrm>
          <a:prstGeom prst="rect">
            <a:avLst/>
          </a:prstGeom>
          <a:solidFill>
            <a:srgbClr val="5C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598000" y="7326000"/>
            <a:ext cx="437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5C7A4E"/>
                </a:solidFill>
                <a:latin typeface="Malgun Gothic"/>
              </a:rPr>
              <a:t>극복 가능한 이유   ·   이미 갖춰진 체계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98000" y="7578000"/>
            <a:ext cx="7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5C7A4E"/>
                </a:solidFill>
                <a:latin typeface="Malgun Gothic"/>
              </a:rPr>
              <a:t>·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70000" y="7578000"/>
            <a:ext cx="430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매뉴얼·SOP가 이미 명문화 — 기준선은 흔들리지 않는다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98000" y="7830000"/>
            <a:ext cx="7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5C7A4E"/>
                </a:solidFill>
                <a:latin typeface="Malgun Gothic"/>
              </a:rPr>
              <a:t>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70000" y="7830000"/>
            <a:ext cx="430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칸반·이슈대장으로 발견 → 처리 사이클이 작동 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98000" y="8082000"/>
            <a:ext cx="7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5C7A4E"/>
                </a:solidFill>
                <a:latin typeface="Malgun Gothic"/>
              </a:rPr>
              <a:t>·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70000" y="8082000"/>
            <a:ext cx="430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노하우 등록 구조로 직원 본인이 개선안을 직접 제안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98000" y="8334000"/>
            <a:ext cx="7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5C7A4E"/>
                </a:solidFill>
                <a:latin typeface="Malgun Gothic"/>
              </a:rPr>
              <a:t>·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70000" y="8334000"/>
            <a:ext cx="430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A3536"/>
                </a:solidFill>
                <a:latin typeface="Malgun Gothic"/>
              </a:rPr>
              <a:t>응대 5원칙·격조 문화가 정착 → 태도 기반이 단단함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0000" y="8766000"/>
            <a:ext cx="9612000" cy="504000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40000" y="8830800"/>
            <a:ext cx="9612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ED5B3F"/>
                </a:solidFill>
                <a:latin typeface="Malgun Gothic"/>
              </a:rPr>
              <a:t>VERDICT · 결론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0000" y="8964000"/>
            <a:ext cx="961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FBF9F6"/>
                </a:solidFill>
                <a:latin typeface="Cambria"/>
              </a:rPr>
              <a:t>현재 지원부 역량이면 — </a:t>
            </a:r>
            <a:r>
              <a:rPr sz="1300" b="1" i="0">
                <a:solidFill>
                  <a:srgbClr val="ED5B3F"/>
                </a:solidFill>
                <a:latin typeface="Cambria"/>
              </a:rPr>
              <a:t>이슈는 잡고, 다음 단계로 갈 수 있습니다.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0000" y="9450000"/>
            <a:ext cx="961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D5B3F"/>
                </a:solidFill>
                <a:latin typeface="Malgun Gothic"/>
              </a:rPr>
              <a:t>04 · NEXT   </a:t>
            </a:r>
            <a:r>
              <a:rPr sz="1300" b="0" i="0">
                <a:solidFill>
                  <a:srgbClr val="221F20"/>
                </a:solidFill>
                <a:latin typeface="Cambria"/>
              </a:rPr>
              <a:t>다음 단계 — 회원 응대 서비스 강화.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0000" y="9468000"/>
            <a:ext cx="9612000" cy="23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1">
                <a:solidFill>
                  <a:srgbClr val="8A8587"/>
                </a:solidFill>
                <a:latin typeface="Malgun Gothic"/>
              </a:rPr>
              <a:t>"청결을 지키는 팀" → "회원 체감을 책임지는 팀"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40000" y="9702000"/>
            <a:ext cx="9612000" cy="0"/>
          </a:xfrm>
          <a:prstGeom prst="line">
            <a:avLst/>
          </a:prstGeom>
          <a:ln w="9525">
            <a:solidFill>
              <a:srgbClr val="D9C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540000" y="9792000"/>
            <a:ext cx="3132000" cy="1440000"/>
          </a:xfrm>
          <a:prstGeom prst="rect">
            <a:avLst/>
          </a:prstGeom>
          <a:solidFill>
            <a:srgbClr val="FBF9F6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84000" y="9918000"/>
            <a:ext cx="3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ED5B3F"/>
                </a:solidFill>
                <a:latin typeface="Cambria"/>
              </a:rPr>
              <a:t>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8000" y="9918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21F20"/>
                </a:solidFill>
                <a:latin typeface="Malgun Gothic"/>
              </a:rPr>
              <a:t>응대 5원칙의 체화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8000" y="10098000"/>
            <a:ext cx="2520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8A8587"/>
                </a:solidFill>
                <a:latin typeface="Malgun Gothic"/>
              </a:rPr>
              <a:t>FROM PRINCIPLE · TO HABIT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4000" y="10296000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D5B3F"/>
                </a:solidFill>
                <a:latin typeface="Malgun Gothic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8000" y="10296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3A3536"/>
                </a:solidFill>
                <a:latin typeface="Malgun Gothic"/>
              </a:rPr>
              <a:t>회원이 호명한 직원을 별도 집계 — "칭찬 회수"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4000" y="10584000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D5B3F"/>
                </a:solidFill>
                <a:latin typeface="Malgun Gothic"/>
              </a:rP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8000" y="10584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3A3536"/>
                </a:solidFill>
                <a:latin typeface="Malgun Gothic"/>
              </a:rPr>
              <a:t>매주 응대 사례 1건 공유 (잘된 사례·아쉬운 사례)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4000" y="10872000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D5B3F"/>
                </a:solidFill>
                <a:latin typeface="Malgun Gothic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8000" y="10872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3A3536"/>
                </a:solidFill>
                <a:latin typeface="Malgun Gothic"/>
              </a:rPr>
              <a:t>분기 1회 회원 평가 피드백 정례 리뷰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780000" y="9792000"/>
            <a:ext cx="3132000" cy="1440000"/>
          </a:xfrm>
          <a:prstGeom prst="rect">
            <a:avLst/>
          </a:prstGeom>
          <a:solidFill>
            <a:srgbClr val="FBF9F6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924000" y="9918000"/>
            <a:ext cx="3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ED5B3F"/>
                </a:solidFill>
                <a:latin typeface="Cambria"/>
              </a:rPr>
              <a:t>Ⅱ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48000" y="9918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21F20"/>
                </a:solidFill>
                <a:latin typeface="Malgun Gothic"/>
              </a:rPr>
              <a:t>선제 응대 · 한 발 앞서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48000" y="10098000"/>
            <a:ext cx="2520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8A8587"/>
                </a:solidFill>
                <a:latin typeface="Malgun Gothic"/>
              </a:rPr>
              <a:t>PRE-EMPTIVE SERVICE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24000" y="10296000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D5B3F"/>
                </a:solidFill>
                <a:latin typeface="Malgun Gothic"/>
              </a:rPr>
              <a:t>—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68000" y="10296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3A3536"/>
                </a:solidFill>
                <a:latin typeface="Malgun Gothic"/>
              </a:rPr>
              <a:t>회원이 말하기 전에 먼저 알아보는 변화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924000" y="10584000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D5B3F"/>
                </a:solidFill>
                <a:latin typeface="Malgun Gothic"/>
              </a:rPr>
              <a:t>—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68000" y="10584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3A3536"/>
                </a:solidFill>
                <a:latin typeface="Malgun Gothic"/>
              </a:rPr>
              <a:t>회원 청결 접수 0건을 향한 내부 점검 강화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24000" y="10872000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D5B3F"/>
                </a:solidFill>
                <a:latin typeface="Malgun Gothic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68000" y="10872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3A3536"/>
                </a:solidFill>
                <a:latin typeface="Malgun Gothic"/>
              </a:rPr>
              <a:t>발견 즉시 그 자리에서 해결하는 권한 행사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020000" y="9792000"/>
            <a:ext cx="3132000" cy="1440000"/>
          </a:xfrm>
          <a:prstGeom prst="rect">
            <a:avLst/>
          </a:prstGeom>
          <a:solidFill>
            <a:srgbClr val="FBF9F6"/>
          </a:solidFill>
          <a:ln w="9525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164000" y="9918000"/>
            <a:ext cx="3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ED5B3F"/>
                </a:solidFill>
                <a:latin typeface="Cambria"/>
              </a:rPr>
              <a:t>Ⅲ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88000" y="9918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21F20"/>
                </a:solidFill>
                <a:latin typeface="Malgun Gothic"/>
              </a:rPr>
              <a:t>격조 — 굴종 아닌 프로페셔널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488000" y="10098000"/>
            <a:ext cx="2520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8A8587"/>
                </a:solidFill>
                <a:latin typeface="Malgun Gothic"/>
              </a:rPr>
              <a:t>DIGNIFIED HOSPITALITY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164000" y="10296000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D5B3F"/>
                </a:solidFill>
                <a:latin typeface="Malgun Gothic"/>
              </a:rPr>
              <a:t>—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08000" y="10296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3A3536"/>
                </a:solidFill>
                <a:latin typeface="Malgun Gothic"/>
              </a:rPr>
              <a:t>무례·폭언에는 정중하되 단호하게 선을 지킨다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164000" y="10584000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D5B3F"/>
                </a:solidFill>
                <a:latin typeface="Malgun Gothic"/>
              </a:rPr>
              <a:t>—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308000" y="10584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3A3536"/>
                </a:solidFill>
                <a:latin typeface="Malgun Gothic"/>
              </a:rPr>
              <a:t>회원·직원이 서로 존중하는 하이엔드 문화 정착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164000" y="10872000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D5B3F"/>
                </a:solidFill>
                <a:latin typeface="Malgun Gothic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308000" y="10872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3A3536"/>
                </a:solidFill>
                <a:latin typeface="Malgun Gothic"/>
              </a:rPr>
              <a:t>지원부 = 웰페리온 브랜드의 얼굴임을 공식화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40000" y="11412000"/>
            <a:ext cx="9612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D5B3F"/>
                </a:solidFill>
                <a:latin typeface="Malgun Gothic"/>
              </a:rPr>
              <a:t>05 · RECOGNITION   </a:t>
            </a:r>
            <a:r>
              <a:rPr sz="1300" b="0" i="0">
                <a:solidFill>
                  <a:srgbClr val="221F20"/>
                </a:solidFill>
                <a:latin typeface="Cambria"/>
              </a:rPr>
              <a:t>그 노력은 — 데이터로 남기고, 회사가 인정합니다.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540000" y="11664000"/>
            <a:ext cx="9612000" cy="0"/>
          </a:xfrm>
          <a:prstGeom prst="line">
            <a:avLst/>
          </a:prstGeom>
          <a:ln w="9525">
            <a:solidFill>
              <a:srgbClr val="D9C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ectangle 184"/>
          <p:cNvSpPr/>
          <p:nvPr/>
        </p:nvSpPr>
        <p:spPr>
          <a:xfrm>
            <a:off x="540000" y="12039312"/>
            <a:ext cx="9612000" cy="2774688"/>
          </a:xfrm>
          <a:prstGeom prst="rect">
            <a:avLst/>
          </a:prstGeom>
          <a:solidFill>
            <a:srgbClr val="22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540000" y="12039312"/>
            <a:ext cx="90000" cy="2774688"/>
          </a:xfrm>
          <a:prstGeom prst="rect">
            <a:avLst/>
          </a:prstGeom>
          <a:solidFill>
            <a:srgbClr val="ED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792000" y="12193860"/>
            <a:ext cx="9180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 dirty="0">
                <a:solidFill>
                  <a:srgbClr val="ED5B3F"/>
                </a:solidFill>
                <a:latin typeface="Malgun Gothic"/>
              </a:rPr>
              <a:t>FOR THE </a:t>
            </a:r>
            <a:r>
              <a:rPr sz="800" b="1" i="0" dirty="0" smtClean="0">
                <a:solidFill>
                  <a:srgbClr val="ED5B3F"/>
                </a:solidFill>
                <a:latin typeface="Malgun Gothic"/>
              </a:rPr>
              <a:t>CHAIRMAN</a:t>
            </a:r>
            <a:endParaRPr sz="800" b="1" i="0" dirty="0">
              <a:solidFill>
                <a:srgbClr val="ED5B3F"/>
              </a:solidFill>
              <a:latin typeface="Malgun Gothic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792000" y="12420600"/>
            <a:ext cx="36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 dirty="0">
                <a:solidFill>
                  <a:srgbClr val="ED5B3F"/>
                </a:solidFill>
                <a:latin typeface="Cambria"/>
              </a:rPr>
              <a:t>“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80000" y="12474600"/>
            <a:ext cx="8928000" cy="1896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1" dirty="0" err="1">
                <a:solidFill>
                  <a:srgbClr val="FBF9F6"/>
                </a:solidFill>
                <a:latin typeface="Cambria"/>
              </a:rPr>
              <a:t>지원부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여러분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,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정말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고생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많으십니다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.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지금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여러분이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만드는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것이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곧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웰페리온의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품격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입니다</a:t>
            </a:r>
            <a:r>
              <a:rPr sz="1300" b="0" i="1" dirty="0" smtClean="0">
                <a:solidFill>
                  <a:srgbClr val="FBF9F6"/>
                </a:solidFill>
                <a:latin typeface="Cambria"/>
              </a:rPr>
              <a:t>.</a:t>
            </a:r>
            <a:endParaRPr lang="en-US" sz="1300" b="0" i="1" dirty="0" smtClean="0">
              <a:solidFill>
                <a:srgbClr val="FBF9F6"/>
              </a:solidFill>
              <a:latin typeface="Cambria"/>
            </a:endParaRPr>
          </a:p>
          <a:p>
            <a:pPr algn="l">
              <a:lnSpc>
                <a:spcPct val="145000"/>
              </a:lnSpc>
            </a:pPr>
            <a:r>
              <a:rPr sz="1300" b="0" i="1" dirty="0" err="1" smtClean="0">
                <a:solidFill>
                  <a:srgbClr val="FBF9F6"/>
                </a:solidFill>
                <a:latin typeface="Cambria"/>
              </a:rPr>
              <a:t>점검관리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·청결관리는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운영하면서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약간의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이슈도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보였지만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, </a:t>
            </a:r>
            <a:endParaRPr lang="en-US" sz="1300" b="0" i="1" dirty="0" smtClean="0">
              <a:solidFill>
                <a:srgbClr val="FBF9F6"/>
              </a:solidFill>
              <a:latin typeface="Cambria"/>
            </a:endParaRPr>
          </a:p>
          <a:p>
            <a:pPr algn="l">
              <a:lnSpc>
                <a:spcPct val="145000"/>
              </a:lnSpc>
            </a:pPr>
            <a:r>
              <a:rPr b="1" i="1" dirty="0" err="1" smtClean="0">
                <a:solidFill>
                  <a:srgbClr val="ED5B3F"/>
                </a:solidFill>
                <a:latin typeface="Cambria"/>
              </a:rPr>
              <a:t>지금의</a:t>
            </a:r>
            <a:r>
              <a:rPr b="1" i="1" dirty="0" smtClean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지원부면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충분히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잡을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수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있다고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저는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믿고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있습니다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.</a:t>
            </a:r>
            <a:r>
              <a:rPr sz="1300" b="1" i="1" dirty="0">
                <a:solidFill>
                  <a:srgbClr val="ED5B3F"/>
                </a:solidFill>
                <a:latin typeface="Cambria"/>
              </a:rPr>
              <a:t>
</a:t>
            </a:r>
            <a:r>
              <a:rPr lang="ko-KR" altLang="en-US" sz="1300" b="0" i="1" dirty="0" smtClean="0">
                <a:solidFill>
                  <a:srgbClr val="FBF9F6"/>
                </a:solidFill>
                <a:latin typeface="Cambria"/>
              </a:rPr>
              <a:t>다</a:t>
            </a:r>
            <a:r>
              <a:rPr sz="1300" b="0" i="1" dirty="0" smtClean="0">
                <a:solidFill>
                  <a:srgbClr val="FBF9F6"/>
                </a:solidFill>
                <a:latin typeface="Cambria"/>
              </a:rPr>
              <a:t>음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단계는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회원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응대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서비스를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한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단계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더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끌어올리는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것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입니다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. </a:t>
            </a:r>
            <a:endParaRPr lang="en-US" sz="1300" b="0" i="1" dirty="0" smtClean="0">
              <a:solidFill>
                <a:srgbClr val="FBF9F6"/>
              </a:solidFill>
              <a:latin typeface="Cambria"/>
            </a:endParaRPr>
          </a:p>
          <a:p>
            <a:pPr algn="l">
              <a:lnSpc>
                <a:spcPct val="145000"/>
              </a:lnSpc>
            </a:pPr>
            <a:r>
              <a:rPr sz="1300" b="0" i="1" dirty="0" smtClean="0">
                <a:solidFill>
                  <a:srgbClr val="FBF9F6"/>
                </a:solidFill>
                <a:latin typeface="Cambria"/>
              </a:rPr>
              <a:t>그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노력은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sz="1300" b="0" i="1" dirty="0" err="1">
                <a:solidFill>
                  <a:srgbClr val="FBF9F6"/>
                </a:solidFill>
                <a:latin typeface="Cambria"/>
              </a:rPr>
              <a:t>반드시</a:t>
            </a:r>
            <a:r>
              <a:rPr sz="1300" b="0" i="1" dirty="0">
                <a:solidFill>
                  <a:srgbClr val="FBF9F6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데이터로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남기고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,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회사가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 </a:t>
            </a:r>
            <a:r>
              <a:rPr b="1" i="1" dirty="0" err="1">
                <a:solidFill>
                  <a:srgbClr val="ED5B3F"/>
                </a:solidFill>
                <a:latin typeface="Cambria"/>
              </a:rPr>
              <a:t>인정하겠습니다</a:t>
            </a:r>
            <a:r>
              <a:rPr b="1" i="1" dirty="0">
                <a:solidFill>
                  <a:srgbClr val="ED5B3F"/>
                </a:solidFill>
                <a:latin typeface="Cambria"/>
              </a:rPr>
              <a:t>.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540000" y="14868000"/>
            <a:ext cx="9612000" cy="0"/>
          </a:xfrm>
          <a:prstGeom prst="line">
            <a:avLst/>
          </a:prstGeom>
          <a:ln w="9525">
            <a:solidFill>
              <a:srgbClr val="D9C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7020000" y="14922000"/>
            <a:ext cx="313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00" b="0" i="0">
                <a:solidFill>
                  <a:srgbClr val="8A8587"/>
                </a:solidFill>
                <a:latin typeface="Malgun Gothic"/>
              </a:rPr>
              <a:t>A3 · 1 / 1 — Support Department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525</Words>
  <Application>Microsoft Office PowerPoint</Application>
  <PresentationFormat>사용자 지정</PresentationFormat>
  <Paragraphs>104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맑은 고딕</vt:lpstr>
      <vt:lpstr>Arial</vt:lpstr>
      <vt:lpstr>Calibri</vt:lpstr>
      <vt:lpstr>Cambria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라우열</cp:lastModifiedBy>
  <cp:revision>6</cp:revision>
  <cp:lastPrinted>2026-06-22T02:18:59Z</cp:lastPrinted>
  <dcterms:created xsi:type="dcterms:W3CDTF">2013-01-27T09:14:16Z</dcterms:created>
  <dcterms:modified xsi:type="dcterms:W3CDTF">2026-06-22T02:58:58Z</dcterms:modified>
  <cp:category/>
</cp:coreProperties>
</file>